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1F42B5-7BC3-E82D-F3A5-2C69F05F6201}" v="1" dt="2026-08-23T17:49:05.1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>
        <p:scale>
          <a:sx n="115" d="100"/>
          <a:sy n="115" d="100"/>
        </p:scale>
        <p:origin x="3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2649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Reviewer focus: identify the project, team and mentor.</a:t>
            </a:r>
          </a:p>
          <a:p>
            <a:r>
              <a:t>Likely question: What is the core contribution?</a:t>
            </a:r>
          </a:p>
          <a:p>
            <a:r>
              <a:t>Answer: CAPSTONE-1 investigates a privacy-preserving, local-first browser security pipeline that correlates observable evidence, local ML output and policy context. It is a research investigation; universal detection is not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Reviewer focus: team ownership and project intent.</a:t>
            </a:r>
          </a:p>
          <a:p>
            <a:r>
              <a:t>Likely question: Why is this a cybersecurity/AI project?</a:t>
            </a:r>
          </a:p>
          <a:p>
            <a:r>
              <a:t>Answer: the security core operates in the browser, while the ML layer learns patterns from deterministic browser-derived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Reviewer focus: phishing is the motivating threat class, but the system focuses on browser-observable evidence.</a:t>
            </a:r>
          </a:p>
          <a:p>
            <a:r>
              <a:t>Likely question: Are you detecting phishing emails?</a:t>
            </a:r>
          </a:p>
          <a:p>
            <a:r>
              <a:t>Answer: No. The current CAPSTONE-1 boundary is the browser/web interaction; upstream channels are context for how the user arrives at that interaction.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Reviewer focus: delivery is multi-channel, but the browser is the main observation boundary for the current MVP.</a:t>
            </a:r>
          </a:p>
          <a:p>
            <a:r>
              <a:t>Likely question: Why not build an email detector?</a:t>
            </a:r>
          </a:p>
          <a:p>
            <a:r>
              <a:t>Answer: the selected research scope is browser/web threats; email, SMS, QR and social channels are upstream delivery vectors.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Reviewer focus: three project motivations.</a:t>
            </a:r>
          </a:p>
          <a:p>
            <a:r>
              <a:t>Likely question: What is your research question?</a:t>
            </a:r>
          </a:p>
          <a:p>
            <a:r>
              <a:t>Answer: Can browser-observable evidence be correlated locally and privately to assess suspicious phishing/data-collection behavior without collecting the secrets themselves?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Reviewer focus: the browser is the current control/observation point.</a:t>
            </a:r>
          </a:p>
          <a:p>
            <a:r>
              <a:t>Likely question: Does CAPSTONE inspect the original email/message?</a:t>
            </a:r>
          </a:p>
          <a:p>
            <a:r>
              <a:t>Answer: No. Those channels explain attack delivery; CAPSTONE analyzes the webpage and browser-visible context after arrival.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Reviewer focus: this slide translates the threat into browser-observable evidence.</a:t>
            </a:r>
          </a:p>
          <a:p>
            <a:r>
              <a:t>Likely question: Which signals are actually available?</a:t>
            </a:r>
          </a:p>
          <a:p>
            <a:r>
              <a:t>Answer: URL/page structure, forms, inputs, scripts, navigation and data categories are current evidence; dynamic, domain and network intelligence are research/target capabilities until validated.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Reviewer focus: neither URL-only nor behavior-only is presented as universally sufficient.</a:t>
            </a:r>
          </a:p>
          <a:p>
            <a:r>
              <a:t>Likely question: What is your research gap?</a:t>
            </a:r>
          </a:p>
          <a:p>
            <a:r>
              <a:t>Answer: whether browser-observable signals can be correlated in a privacy-preserving, local-first architecture and validated with leakage-safe experiments.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Reviewer focus: this is the conceptual backbone.</a:t>
            </a:r>
          </a:p>
          <a:p>
            <a:r>
              <a:t>Likely question: What makes it more than an ML classifier?</a:t>
            </a:r>
          </a:p>
          <a:p>
            <a:r>
              <a:t>Answer: the ML score is only one input; the system preserves evidence, context, reason codes and policy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Reviewer focus: architecture.</a:t>
            </a:r>
          </a:p>
          <a:p>
            <a:r>
              <a:t>Likely question: Which parts are implemented?</a:t>
            </a:r>
          </a:p>
          <a:p>
            <a:r>
              <a:t>Answer: browser evidence, data classification, feature processing, prototype local inference, assessment/policy and the FastAPI/PostgreSQL research boundary are current components; domain intelligence, network intelligence and broader dynamic evaluation remain research/validation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Reviewer focus: the classification hierarchy.</a:t>
            </a:r>
          </a:p>
          <a:p>
            <a:r>
              <a:t>Likely question: Is every password field treated as phishing?</a:t>
            </a:r>
          </a:p>
          <a:p>
            <a:r>
              <a:t>Answer: No. The system explicitly prevents that shortcut and preserves an insufficient-evidence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Reviewer focus: the service-profile idea is a key contextual feature.</a:t>
            </a:r>
          </a:p>
          <a:p>
            <a:r>
              <a:t>Likely question: How do you know what a legitimate service should need?</a:t>
            </a:r>
          </a:p>
          <a:p>
            <a:r>
              <a:t>Answer: the target architecture can build a service profile from official/public documentation and compare it with browser-observable behavior; availability and freshness are explicit uncertainties.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Reviewer focus: controlled scenarios are for testing contextual reasoning.</a:t>
            </a:r>
          </a:p>
          <a:p>
            <a:r>
              <a:t>Likely question: How will you prevent your tests from contaminating training?</a:t>
            </a:r>
          </a:p>
          <a:p>
            <a:r>
              <a:t>Answer: the research plan requires provenance-separated REAL, CONTROLLED and SYNTHETIC samples and leakage auditing before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Reviewer focus: model selection and deployment.</a:t>
            </a:r>
          </a:p>
          <a:p>
            <a:r>
              <a:t>Likely question: Which ML algorithm is final?</a:t>
            </a:r>
          </a:p>
          <a:p>
            <a:r>
              <a:t>Answer: not yet established. Candidate baselines include Logistic Regression, Random Forest and gradient-boosted models; the research protocol selects the final model using predefined criteria and then checks Python/browser parity.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Reviewer focus: traceability.</a:t>
            </a:r>
          </a:p>
          <a:p>
            <a:r>
              <a:t>Likely question: What does an evidence object contain?</a:t>
            </a:r>
          </a:p>
          <a:p>
            <a:r>
              <a:t>Answer: identifier, source, status, confidence, artifact and timestamp; evidence can be observed, verified, inferred, unknown or not observable.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Reviewer focus: decision architecture.</a:t>
            </a:r>
          </a:p>
          <a:p>
            <a:r>
              <a:t>Likely question: Can the model alone block a site?</a:t>
            </a:r>
          </a:p>
          <a:p>
            <a:r>
              <a:t>Answer: No. The model is not the final authority. Assessment combines ML, evidence, rules and context; actual prevention requires separate browser enforcement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Reviewer focus: privacy boundary.</a:t>
            </a:r>
          </a:p>
          <a:p>
            <a:r>
              <a:t>Likely question: How can you detect password collection without reading the password?</a:t>
            </a:r>
          </a:p>
          <a:p>
            <a:r>
              <a:t>Answer: classify the input type/field structure and surrounding behavior; the value itself is prohibited from read/storage/transmission/logging.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Reviewer focus: scope control.</a:t>
            </a:r>
          </a:p>
          <a:p>
            <a:r>
              <a:t>Likely question: Why are files/media mentioned?</a:t>
            </a:r>
          </a:p>
          <a:p>
            <a:r>
              <a:t>Answer: they are a future research direction, not part of the current validated MVP. The current project boundary is browser/web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Reviewer focus: technology alignment.</a:t>
            </a:r>
          </a:p>
          <a:p>
            <a:r>
              <a:t>Likely question: Why ONNX Runtime Web?</a:t>
            </a:r>
          </a:p>
          <a:p>
            <a:r>
              <a:t>Answer: it supports local browser inference and reduces dependence on sending page-derived feature data to a remote inference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Reviewer focus: evidence plan.</a:t>
            </a:r>
          </a:p>
          <a:p>
            <a:r>
              <a:t>Likely question: Do you already have accuracy results?</a:t>
            </a:r>
          </a:p>
          <a:p>
            <a:r>
              <a:t>Answer: not yet at a level that supports strong generalization/significance claims. The current repository has a 20-sample, 98-feature prototype; the research plan calls for provenance-separated evaluation, uncertainty and robustness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Reviewer focus: conclusion.</a:t>
            </a:r>
          </a:p>
          <a:p>
            <a:r>
              <a:t>Likely question: What is the single sentence takeaway?</a:t>
            </a:r>
          </a:p>
          <a:p>
            <a:r>
              <a:t>Answer: CAPSTONE-1 investigates whether browser-observable evidence can be correlated locally and privately to make explainable phishing/web-threat decisions and verified prevention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CAPSTONE-1  |  Blockchain &amp; Cybersecurity Systems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372600" y="651052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Y23-HTE-BC &amp; CyberSEC-27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424858" y="55004"/>
            <a:ext cx="4706532" cy="4119705"/>
          </a:xfrm>
          <a:prstGeom prst="arc">
            <a:avLst/>
          </a:prstGeom>
          <a:noFill/>
          <a:ln w="38100">
            <a:solidFill>
              <a:srgbClr val="246BC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027977" y="3411659"/>
            <a:ext cx="4107442" cy="3494338"/>
          </a:xfrm>
          <a:prstGeom prst="arc">
            <a:avLst/>
          </a:prstGeom>
          <a:noFill/>
          <a:ln w="25400">
            <a:solidFill>
              <a:srgbClr val="0EA5C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CAPSTONE-1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560320" y="2505456"/>
            <a:ext cx="76352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>
                <a:solidFill>
                  <a:srgbClr val="DCEBFF"/>
                </a:solidFill>
              </a:rPr>
              <a:t>AI-Driven Phishing (Web Threat) Detection &amp; </a:t>
            </a:r>
            <a:r>
              <a:rPr lang="en-US" sz="2700" b="1" dirty="0">
                <a:solidFill>
                  <a:srgbClr val="DCEBFF"/>
                </a:solidFill>
              </a:rPr>
              <a:t>Prevention Using ML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85800" y="4892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</a:rPr>
              <a:t>Team: Anantha Gowtham • K Narendra • M Balakrishna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5230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BBD1E8"/>
                </a:solidFill>
              </a:rPr>
              <a:t>Domain: Cybersecurity &amp; Artificial Intelligence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56144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BBD1E8"/>
                </a:solidFill>
              </a:rPr>
              <a:t>Mentor: Dr. Y. Usha Devi  |  Emp ID: 4719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1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Project Context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150"/>
              <a:t>CAPSTONE-1 — Project Team</a:t>
            </a:r>
            <a:endParaRPr lang="en-US" sz="115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54864" cy="1417320"/>
          </a:xfrm>
          <a:prstGeom prst="rect">
            <a:avLst/>
          </a:prstGeom>
          <a:solidFill>
            <a:srgbClr val="246BCE"/>
          </a:solidFill>
          <a:ln w="12700">
            <a:solidFill>
              <a:srgbClr val="246B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56362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6BCE"/>
                </a:solidFill>
              </a:rPr>
              <a:t>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5636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</a:rPr>
              <a:t>Team Lead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3678" y="1948434"/>
            <a:ext cx="2797302" cy="77647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050"/>
              <a:t>Anantha Gowtham</a:t>
            </a:r>
            <a:endParaRPr lang="en-US" sz="1050"/>
          </a:p>
          <a:p>
            <a:r>
              <a:rPr sz="1050"/>
              <a:t>ID: 2300030236-G</a:t>
            </a:r>
          </a:p>
        </p:txBody>
      </p:sp>
      <p:sp>
        <p:nvSpPr>
          <p:cNvPr id="9" name="Shape 7"/>
          <p:cNvSpPr/>
          <p:nvPr/>
        </p:nvSpPr>
        <p:spPr>
          <a:xfrm>
            <a:off x="4498848" y="141732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498848" y="1417320"/>
            <a:ext cx="54864" cy="1417320"/>
          </a:xfrm>
          <a:prstGeom prst="rect">
            <a:avLst/>
          </a:prstGeom>
          <a:solidFill>
            <a:srgbClr val="0EA5C8"/>
          </a:solidFill>
          <a:ln w="12700">
            <a:solidFill>
              <a:srgbClr val="0EA5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81728" y="156362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A5C8"/>
                </a:solidFill>
              </a:rPr>
              <a:t>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38928" y="156362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</a:rPr>
              <a:t>Teammate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38166" y="1948434"/>
            <a:ext cx="2414397" cy="77647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050"/>
              <a:t>K Narendra</a:t>
            </a:r>
            <a:endParaRPr lang="en-US" sz="1050"/>
          </a:p>
          <a:p>
            <a:r>
              <a:rPr sz="1050"/>
              <a:t>ID: 2300030292-K</a:t>
            </a:r>
          </a:p>
        </p:txBody>
      </p:sp>
      <p:sp>
        <p:nvSpPr>
          <p:cNvPr id="14" name="Shape 12"/>
          <p:cNvSpPr/>
          <p:nvPr/>
        </p:nvSpPr>
        <p:spPr>
          <a:xfrm>
            <a:off x="7982712" y="141732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982712" y="1417320"/>
            <a:ext cx="54864" cy="1417320"/>
          </a:xfrm>
          <a:prstGeom prst="rect">
            <a:avLst/>
          </a:prstGeom>
          <a:solidFill>
            <a:srgbClr val="129A8A"/>
          </a:solidFill>
          <a:ln w="12700">
            <a:solidFill>
              <a:srgbClr val="129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165592" y="156362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9A8A"/>
                </a:solidFill>
              </a:rPr>
              <a:t>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22792" y="156362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</a:rPr>
              <a:t>Teammate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22030" y="1948434"/>
            <a:ext cx="2481072" cy="77647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050"/>
              <a:t>M Balakrishna</a:t>
            </a:r>
            <a:endParaRPr lang="en-US" sz="1050"/>
          </a:p>
          <a:p>
            <a:r>
              <a:rPr sz="1050"/>
              <a:t>ID: 2300030399-M</a:t>
            </a:r>
          </a:p>
        </p:txBody>
      </p:sp>
      <p:sp>
        <p:nvSpPr>
          <p:cNvPr id="19" name="Shape 17"/>
          <p:cNvSpPr/>
          <p:nvPr/>
        </p:nvSpPr>
        <p:spPr>
          <a:xfrm>
            <a:off x="1901952" y="3246120"/>
            <a:ext cx="37947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901952" y="3246120"/>
            <a:ext cx="54864" cy="1325880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084832" y="339242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4EFF"/>
                </a:solidFill>
              </a:rPr>
              <a:t>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542032" y="339242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</a:rPr>
              <a:t>Mentor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426970" y="3777234"/>
            <a:ext cx="3086862" cy="5421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/>
              <a:t>Dr. Y. Usha Devi</a:t>
            </a:r>
            <a:endParaRPr lang="en-US" sz="1050"/>
          </a:p>
          <a:p>
            <a:pPr marL="0" indent="0">
              <a:buNone/>
            </a:pPr>
            <a:r>
              <a:rPr lang="en-US" sz="1050" dirty="0"/>
              <a:t>Mentor Emp ID: 4719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5989320" y="3246120"/>
            <a:ext cx="37947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989320" y="3246120"/>
            <a:ext cx="54864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172200" y="339242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</a:rPr>
              <a:t>D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629400" y="339242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172B4D"/>
                </a:solidFill>
              </a:rPr>
              <a:t>Team role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4360" y="521665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>
                <a:solidFill>
                  <a:srgbClr val="17324D"/>
                </a:solidFill>
              </a:rPr>
              <a:t>Project intent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331720" y="502920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172B4D"/>
                </a:solidFill>
              </a:rPr>
              <a:t>Build a privacy-preserving browser security layer that observes web behavior, evaluates contextual risk, explains the evidence, and prevents harmful actions without collecting users’ secrets.</a:t>
            </a:r>
            <a:endParaRPr lang="en-US" sz="15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F97E864-1133-9E4F-A086-A5FEBFF76C9A}"/>
              </a:ext>
            </a:extLst>
          </p:cNvPr>
          <p:cNvSpPr txBox="1"/>
          <p:nvPr/>
        </p:nvSpPr>
        <p:spPr>
          <a:xfrm>
            <a:off x="6715125" y="3829050"/>
            <a:ext cx="27813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0" i="0" u="none" strike="noStrike" baseline="0">
                <a:solidFill>
                  <a:srgbClr val="000000"/>
                </a:solidFill>
                <a:latin typeface="Aptos"/>
              </a:rPr>
              <a:t>Blockchain &amp; Cybersecurity Security</a:t>
            </a:r>
            <a:r>
              <a:rPr sz="11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endParaRPr lang="en-US" sz="1100" dirty="0"/>
          </a:p>
          <a:p>
            <a:pPr algn="ctr"/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7324D"/>
                </a:solidFill>
                <a:latin typeface="Aptos Display"/>
              </a:rPr>
              <a:t>What is the web threat we are addressing?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6089" y="1095248"/>
            <a:ext cx="10968945" cy="4399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r>
              <a:rPr sz="1200"/>
              <a:t>A deceptive web interaction that induces a user to trust an illegitimate service, disclose sensitive information, or perform a harmful action.</a:t>
            </a:r>
          </a:p>
        </p:txBody>
      </p:sp>
      <p:sp>
        <p:nvSpPr>
          <p:cNvPr id="4" name="Text 2"/>
          <p:cNvSpPr/>
          <p:nvPr/>
        </p:nvSpPr>
        <p:spPr>
          <a:xfrm>
            <a:off x="667127" y="188758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400" b="1">
                <a:solidFill>
                  <a:srgbClr val="C0392B"/>
                </a:solidFill>
              </a:rPr>
              <a:t>Phishing / Web Deception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2285019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400"/>
              <a:t>In CAPSTONE-1, phishing is treated as a web-threat scenario in which trust is abused to induce a sensitive or risky browser action.</a:t>
            </a:r>
          </a:p>
        </p:txBody>
      </p:sp>
      <p:sp>
        <p:nvSpPr>
          <p:cNvPr id="6" name="Shape 4"/>
          <p:cNvSpPr/>
          <p:nvPr/>
        </p:nvSpPr>
        <p:spPr>
          <a:xfrm>
            <a:off x="606972" y="4244603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EAF2FF"/>
          </a:solidFill>
          <a:ln w="15240">
            <a:solidFill>
              <a:srgbClr val="BBD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0124" y="4317755"/>
            <a:ext cx="209397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17324D"/>
                </a:solidFill>
              </a:rPr>
              <a:t>TRUST SIGNAL</a:t>
            </a:r>
            <a:endParaRPr lang="en-US" sz="1200" dirty="0"/>
          </a:p>
          <a:p>
            <a:r>
              <a:rPr sz="1200" b="1">
                <a:solidFill>
                  <a:srgbClr val="17324D"/>
                </a:solidFill>
              </a:rPr>
              <a:t>Brand / account / service</a:t>
            </a:r>
          </a:p>
        </p:txBody>
      </p:sp>
      <p:sp>
        <p:nvSpPr>
          <p:cNvPr id="8" name="Shape 6"/>
          <p:cNvSpPr/>
          <p:nvPr/>
        </p:nvSpPr>
        <p:spPr>
          <a:xfrm>
            <a:off x="2920404" y="4683515"/>
            <a:ext cx="768096" cy="0"/>
          </a:xfrm>
          <a:prstGeom prst="line">
            <a:avLst/>
          </a:prstGeom>
          <a:noFill/>
          <a:ln w="25400">
            <a:solidFill>
              <a:srgbClr val="246B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88500" y="4244603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4E5"/>
          </a:solidFill>
          <a:ln w="15240">
            <a:solidFill>
              <a:srgbClr val="F1D4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761652" y="4317755"/>
            <a:ext cx="218541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D97706"/>
                </a:solidFill>
              </a:rPr>
              <a:t>DECEPTIVE INTERACTION</a:t>
            </a:r>
            <a:endParaRPr lang="en-US" sz="1200" dirty="0"/>
          </a:p>
          <a:p>
            <a:r>
              <a:rPr sz="1200" b="1">
                <a:solidFill>
                  <a:srgbClr val="D97706"/>
                </a:solidFill>
              </a:rPr>
              <a:t>Link / login / redirect</a:t>
            </a:r>
          </a:p>
        </p:txBody>
      </p:sp>
      <p:sp>
        <p:nvSpPr>
          <p:cNvPr id="11" name="Shape 9"/>
          <p:cNvSpPr/>
          <p:nvPr/>
        </p:nvSpPr>
        <p:spPr>
          <a:xfrm>
            <a:off x="6102516" y="4683515"/>
            <a:ext cx="722376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824892" y="4244603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DEDEC"/>
          </a:solidFill>
          <a:ln w="15240">
            <a:solidFill>
              <a:srgbClr val="F2B6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898044" y="4317755"/>
            <a:ext cx="218541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C0392B"/>
                </a:solidFill>
              </a:rPr>
              <a:t>SENSITIVE ACTION</a:t>
            </a:r>
            <a:endParaRPr lang="en-US" sz="1200" dirty="0"/>
          </a:p>
          <a:p>
            <a:r>
              <a:rPr sz="1200" b="1">
                <a:solidFill>
                  <a:srgbClr val="C0392B"/>
                </a:solidFill>
              </a:rPr>
              <a:t>Credential / payment / upload</a:t>
            </a:r>
          </a:p>
        </p:txBody>
      </p:sp>
      <p:sp>
        <p:nvSpPr>
          <p:cNvPr id="14" name="Shape 12"/>
          <p:cNvSpPr/>
          <p:nvPr/>
        </p:nvSpPr>
        <p:spPr>
          <a:xfrm>
            <a:off x="9248052" y="4683515"/>
            <a:ext cx="77724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0025292" y="4244603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C0392B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098444" y="4317755"/>
            <a:ext cx="136245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ATTACKER OUTCOME</a:t>
            </a:r>
            <a:endParaRPr lang="en-US" sz="1100" dirty="0"/>
          </a:p>
          <a:p>
            <a:r>
              <a:rPr sz="1100" b="1">
                <a:solidFill>
                  <a:srgbClr val="FFFFFF"/>
                </a:solidFill>
              </a:rPr>
              <a:t>Account / data / money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7324D"/>
                </a:solidFill>
                <a:latin typeface="Aptos Display"/>
              </a:rPr>
              <a:t>Phishing begins with trust — but the risky action reaches the browser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1123" y="1016420"/>
            <a:ext cx="10881360" cy="4312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r>
              <a:rPr sz="1200"/>
              <a:t>Attackers manufacture trust or urgency; the browser is where links, logins, permissions and sensitive-data requests become observable security events.</a:t>
            </a:r>
          </a:p>
        </p:txBody>
      </p:sp>
      <p:sp>
        <p:nvSpPr>
          <p:cNvPr id="4" name="Shape 2"/>
          <p:cNvSpPr/>
          <p:nvPr/>
        </p:nvSpPr>
        <p:spPr>
          <a:xfrm>
            <a:off x="594360" y="1702886"/>
            <a:ext cx="342900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94360" y="1702886"/>
            <a:ext cx="54864" cy="1627632"/>
          </a:xfrm>
          <a:prstGeom prst="rect">
            <a:avLst/>
          </a:prstGeom>
          <a:solidFill>
            <a:srgbClr val="246BCE"/>
          </a:solidFill>
          <a:ln w="12700">
            <a:solidFill>
              <a:srgbClr val="246B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849190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6BCE"/>
                </a:solidFill>
              </a:rPr>
              <a:t>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84919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</a:rPr>
              <a:t>Email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0908" y="2232467"/>
            <a:ext cx="1608538" cy="77811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200"/>
              <a:t>Account alert, invoice, password reset, delivery</a:t>
            </a:r>
          </a:p>
        </p:txBody>
      </p:sp>
      <p:sp>
        <p:nvSpPr>
          <p:cNvPr id="9" name="Shape 7"/>
          <p:cNvSpPr/>
          <p:nvPr/>
        </p:nvSpPr>
        <p:spPr>
          <a:xfrm>
            <a:off x="4416552" y="1702886"/>
            <a:ext cx="342900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416552" y="1702886"/>
            <a:ext cx="54864" cy="1627632"/>
          </a:xfrm>
          <a:prstGeom prst="rect">
            <a:avLst/>
          </a:prstGeom>
          <a:solidFill>
            <a:srgbClr val="0EA5C8"/>
          </a:solidFill>
          <a:ln w="12700">
            <a:solidFill>
              <a:srgbClr val="0EA5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99432" y="1849190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A5C8"/>
                </a:solidFill>
              </a:rPr>
              <a:t>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56632" y="184919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</a:rPr>
              <a:t>SMS / messaging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55650" y="2232467"/>
            <a:ext cx="1529712" cy="6817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200"/>
              <a:t>Urgent link, fake support, OTP request</a:t>
            </a:r>
          </a:p>
        </p:txBody>
      </p:sp>
      <p:sp>
        <p:nvSpPr>
          <p:cNvPr id="14" name="Shape 12"/>
          <p:cNvSpPr/>
          <p:nvPr/>
        </p:nvSpPr>
        <p:spPr>
          <a:xfrm>
            <a:off x="8238744" y="1702886"/>
            <a:ext cx="342900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38744" y="1702886"/>
            <a:ext cx="54864" cy="1627632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421624" y="1849190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4EFF"/>
                </a:solidFill>
              </a:rPr>
              <a:t>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78824" y="184919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</a:rPr>
              <a:t>Social media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25291" y="2232467"/>
            <a:ext cx="1818745" cy="6817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200"/>
              <a:t>Brand/person impersonation, giveaway, job</a:t>
            </a:r>
          </a:p>
        </p:txBody>
      </p:sp>
      <p:sp>
        <p:nvSpPr>
          <p:cNvPr id="19" name="Shape 17"/>
          <p:cNvSpPr/>
          <p:nvPr/>
        </p:nvSpPr>
        <p:spPr>
          <a:xfrm>
            <a:off x="594360" y="3760286"/>
            <a:ext cx="342900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94360" y="3760286"/>
            <a:ext cx="54864" cy="16276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77240" y="3906590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</a:rPr>
              <a:t>•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390659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</a:rPr>
              <a:t>Voice / video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3458" y="4289867"/>
            <a:ext cx="2274194" cy="69929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200"/>
              <a:t>Fake support, caller impersonation, synthetic voice/video</a:t>
            </a:r>
          </a:p>
        </p:txBody>
      </p:sp>
      <p:sp>
        <p:nvSpPr>
          <p:cNvPr id="24" name="Shape 22"/>
          <p:cNvSpPr/>
          <p:nvPr/>
        </p:nvSpPr>
        <p:spPr>
          <a:xfrm>
            <a:off x="4416552" y="3760286"/>
            <a:ext cx="342900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416552" y="3760286"/>
            <a:ext cx="54864" cy="16276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99432" y="3906590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</a:rPr>
              <a:t>•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056632" y="390659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</a:rPr>
              <a:t>Documents / media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55651" y="4289867"/>
            <a:ext cx="1871298" cy="6204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200"/>
              <a:t>PDF, Office file, image, QR code, embedded link</a:t>
            </a:r>
          </a:p>
        </p:txBody>
      </p:sp>
      <p:sp>
        <p:nvSpPr>
          <p:cNvPr id="29" name="Shape 27"/>
          <p:cNvSpPr/>
          <p:nvPr/>
        </p:nvSpPr>
        <p:spPr>
          <a:xfrm>
            <a:off x="8238744" y="3760286"/>
            <a:ext cx="342900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238744" y="3760286"/>
            <a:ext cx="54864" cy="1627632"/>
          </a:xfrm>
          <a:prstGeom prst="rect">
            <a:avLst/>
          </a:prstGeom>
          <a:solidFill>
            <a:srgbClr val="129A8A"/>
          </a:solidFill>
          <a:ln w="12700">
            <a:solidFill>
              <a:srgbClr val="129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421624" y="3906590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9A8A"/>
                </a:solidFill>
              </a:rPr>
              <a:t>•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878824" y="390659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</a:rPr>
              <a:t>Websites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816532" y="4289867"/>
            <a:ext cx="1731160" cy="6992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200"/>
              <a:t>Fake login, OAuth page, payment page, credential trap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878" y="107109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600" b="1">
                <a:solidFill>
                  <a:srgbClr val="17324D"/>
                </a:solidFill>
                <a:latin typeface="Aptos Display"/>
              </a:rPr>
              <a:t>Why are we developing CAPSTONE-1?</a:t>
            </a:r>
            <a:endParaRPr lang="en-US" sz="2600">
              <a:latin typeface="Aptos Display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51587" y="2292967"/>
            <a:ext cx="3814253" cy="2429299"/>
          </a:xfrm>
          <a:prstGeom prst="roundRect">
            <a:avLst>
              <a:gd name="adj" fmla="val 2254"/>
            </a:avLst>
          </a:prstGeom>
          <a:solidFill>
            <a:srgbClr val="FDEDEC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3539" y="2280986"/>
            <a:ext cx="64716" cy="242929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5645" y="2619980"/>
            <a:ext cx="474582" cy="439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</a:rPr>
              <a:t>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2659" y="2652748"/>
            <a:ext cx="2983655" cy="321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172B4D"/>
                </a:solidFill>
              </a:rPr>
              <a:t>1. Harmful actions look legitimate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9752" y="3340918"/>
            <a:ext cx="3186071" cy="23031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200"/>
              <a:t>The dangerous step may be a normal-looking login, payment, upload, permission request or redirect.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4199022" y="2284208"/>
            <a:ext cx="3823554" cy="2455574"/>
          </a:xfrm>
          <a:prstGeom prst="roundRect">
            <a:avLst>
              <a:gd name="adj" fmla="val 2254"/>
            </a:avLst>
          </a:prstGeom>
          <a:solidFill>
            <a:srgbClr val="FFF4E5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196485" y="2275449"/>
            <a:ext cx="57339" cy="246111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405641" y="2672531"/>
            <a:ext cx="474582" cy="378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</a:rPr>
              <a:t>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75383" y="2673487"/>
            <a:ext cx="2983655" cy="321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172B4D"/>
                </a:solidFill>
              </a:rPr>
              <a:t>2. A URL cannot explain the whole interaction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44493" y="3343531"/>
            <a:ext cx="3133518" cy="23031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200"/>
              <a:t>Risk can depend on requested data, service identity, destination, redirects, dynamic behavior and context—not only URL syntax.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8270043" y="2272257"/>
            <a:ext cx="3757106" cy="2438058"/>
          </a:xfrm>
          <a:prstGeom prst="roundRect">
            <a:avLst>
              <a:gd name="adj" fmla="val 2254"/>
            </a:avLst>
          </a:prstGeom>
          <a:solidFill>
            <a:srgbClr val="EAF2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56737" y="2280986"/>
            <a:ext cx="64716" cy="2438058"/>
          </a:xfrm>
          <a:prstGeom prst="rect">
            <a:avLst/>
          </a:prstGeom>
          <a:solidFill>
            <a:srgbClr val="246BCE"/>
          </a:solidFill>
          <a:ln w="12700">
            <a:solidFill>
              <a:srgbClr val="246B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332749" y="2620973"/>
            <a:ext cx="474582" cy="439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6BCE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776092" y="2649350"/>
            <a:ext cx="2983655" cy="321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172B4D"/>
                </a:solidFill>
              </a:rPr>
              <a:t>3. Prevention needs evidence + context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69781" y="3344139"/>
            <a:ext cx="2932070" cy="238199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200"/>
              <a:t>We propose correlating observable evidence with service expectations and local ML output, then mapping the assessment to a tested policy action.</a:t>
            </a:r>
            <a:endParaRPr 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7324D"/>
                </a:solidFill>
                <a:latin typeface="Aptos Display"/>
              </a:rPr>
              <a:t>Where CAPSTONE-1 observes the threat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5E6C84"/>
                </a:solidFill>
              </a:rPr>
              <a:t>Different delivery channels converge on the browser; the project focuses on the observable evidence surrounding the risky action.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5240">
            <a:solidFill>
              <a:srgbClr val="C9DC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58952" y="1490472"/>
            <a:ext cx="12710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</a:rPr>
              <a:t>Email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40280" y="1636776"/>
            <a:ext cx="731520" cy="0"/>
          </a:xfrm>
          <a:prstGeom prst="line">
            <a:avLst/>
          </a:prstGeom>
          <a:noFill/>
          <a:ln w="21590">
            <a:solidFill>
              <a:srgbClr val="246B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971800" y="1417320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044952" y="1490472"/>
            <a:ext cx="22311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2B4D"/>
                </a:solidFill>
              </a:rPr>
              <a:t>Link / attachment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40680" y="1636776"/>
            <a:ext cx="795528" cy="0"/>
          </a:xfrm>
          <a:prstGeom prst="line">
            <a:avLst/>
          </a:prstGeom>
          <a:noFill/>
          <a:ln w="21590">
            <a:solidFill>
              <a:srgbClr val="246B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236208" y="1417320"/>
            <a:ext cx="2057400" cy="438912"/>
          </a:xfrm>
          <a:prstGeom prst="roundRect">
            <a:avLst>
              <a:gd name="adj" fmla="val 16667"/>
            </a:avLst>
          </a:prstGeom>
          <a:solidFill>
            <a:srgbClr val="EAF7F0"/>
          </a:solidFill>
          <a:ln w="15240">
            <a:solidFill>
              <a:srgbClr val="CBE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309360" y="1490472"/>
            <a:ext cx="19110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100" b="1">
                <a:solidFill>
                  <a:srgbClr val="2E8B57"/>
                </a:solidFill>
              </a:rPr>
              <a:t>Browser / web service</a:t>
            </a:r>
            <a:endParaRPr lang="en-US" sz="1100" dirty="0"/>
          </a:p>
          <a:p>
            <a:r>
              <a:rPr sz="1100" b="1">
                <a:solidFill>
                  <a:srgbClr val="2E8B57"/>
                </a:solidFill>
              </a:rPr>
              <a:t>OBSERVABLE BOUNDARY</a:t>
            </a:r>
          </a:p>
        </p:txBody>
      </p:sp>
      <p:sp>
        <p:nvSpPr>
          <p:cNvPr id="12" name="Shape 10"/>
          <p:cNvSpPr/>
          <p:nvPr/>
        </p:nvSpPr>
        <p:spPr>
          <a:xfrm>
            <a:off x="8321040" y="1636776"/>
            <a:ext cx="731520" cy="0"/>
          </a:xfrm>
          <a:prstGeom prst="line">
            <a:avLst/>
          </a:prstGeom>
          <a:noFill/>
          <a:ln w="21590">
            <a:solidFill>
              <a:srgbClr val="246B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052560" y="1417320"/>
            <a:ext cx="1874520" cy="438912"/>
          </a:xfrm>
          <a:prstGeom prst="roundRect">
            <a:avLst>
              <a:gd name="adj" fmla="val 16667"/>
            </a:avLst>
          </a:prstGeom>
          <a:solidFill>
            <a:srgbClr val="FFF4E5"/>
          </a:solidFill>
          <a:ln w="15240">
            <a:solidFill>
              <a:srgbClr val="EAD7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125712" y="1490472"/>
            <a:ext cx="17282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100" b="1">
                <a:solidFill>
                  <a:srgbClr val="D97706"/>
                </a:solidFill>
              </a:rPr>
              <a:t>Sensitive action</a:t>
            </a:r>
            <a:endParaRPr lang="en-US" sz="1100" dirty="0"/>
          </a:p>
          <a:p>
            <a:r>
              <a:rPr sz="1100" b="1">
                <a:solidFill>
                  <a:srgbClr val="D97706"/>
                </a:solidFill>
              </a:rPr>
              <a:t>RISK EVENT</a:t>
            </a:r>
          </a:p>
        </p:txBody>
      </p:sp>
      <p:sp>
        <p:nvSpPr>
          <p:cNvPr id="15" name="Shape 13"/>
          <p:cNvSpPr/>
          <p:nvPr/>
        </p:nvSpPr>
        <p:spPr>
          <a:xfrm>
            <a:off x="685800" y="2093976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5240">
            <a:solidFill>
              <a:srgbClr val="C9DC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58952" y="2167128"/>
            <a:ext cx="12710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</a:rPr>
              <a:t>Message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40280" y="2313432"/>
            <a:ext cx="731520" cy="0"/>
          </a:xfrm>
          <a:prstGeom prst="line">
            <a:avLst/>
          </a:prstGeom>
          <a:noFill/>
          <a:ln w="21590">
            <a:solidFill>
              <a:srgbClr val="246B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971800" y="2093976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44952" y="2167128"/>
            <a:ext cx="22311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2B4D"/>
                </a:solidFill>
              </a:rPr>
              <a:t>Short link / impersonation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2313432"/>
            <a:ext cx="795528" cy="0"/>
          </a:xfrm>
          <a:prstGeom prst="line">
            <a:avLst/>
          </a:prstGeom>
          <a:noFill/>
          <a:ln w="21590">
            <a:solidFill>
              <a:srgbClr val="246B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236208" y="2093976"/>
            <a:ext cx="2057400" cy="438912"/>
          </a:xfrm>
          <a:prstGeom prst="roundRect">
            <a:avLst>
              <a:gd name="adj" fmla="val 16667"/>
            </a:avLst>
          </a:prstGeom>
          <a:solidFill>
            <a:srgbClr val="EAF7F0"/>
          </a:solidFill>
          <a:ln w="15240">
            <a:solidFill>
              <a:srgbClr val="CBE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309360" y="2167128"/>
            <a:ext cx="19110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100" b="1">
                <a:solidFill>
                  <a:srgbClr val="2E8B57"/>
                </a:solidFill>
              </a:rPr>
              <a:t>Browser / web service</a:t>
            </a:r>
            <a:endParaRPr lang="en-US" sz="1100" dirty="0"/>
          </a:p>
          <a:p>
            <a:r>
              <a:rPr sz="1100" b="1">
                <a:solidFill>
                  <a:srgbClr val="2E8B57"/>
                </a:solidFill>
              </a:rPr>
              <a:t>OBSERVABLE BOUNDARY</a:t>
            </a:r>
          </a:p>
        </p:txBody>
      </p:sp>
      <p:sp>
        <p:nvSpPr>
          <p:cNvPr id="23" name="Shape 21"/>
          <p:cNvSpPr/>
          <p:nvPr/>
        </p:nvSpPr>
        <p:spPr>
          <a:xfrm>
            <a:off x="8321040" y="2313432"/>
            <a:ext cx="731520" cy="0"/>
          </a:xfrm>
          <a:prstGeom prst="line">
            <a:avLst/>
          </a:prstGeom>
          <a:noFill/>
          <a:ln w="21590">
            <a:solidFill>
              <a:srgbClr val="246B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9052560" y="2093976"/>
            <a:ext cx="1874520" cy="438912"/>
          </a:xfrm>
          <a:prstGeom prst="roundRect">
            <a:avLst>
              <a:gd name="adj" fmla="val 16667"/>
            </a:avLst>
          </a:prstGeom>
          <a:solidFill>
            <a:srgbClr val="FFF4E5"/>
          </a:solidFill>
          <a:ln w="15240">
            <a:solidFill>
              <a:srgbClr val="EAD7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125712" y="2167128"/>
            <a:ext cx="17282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100" b="1">
                <a:solidFill>
                  <a:srgbClr val="D97706"/>
                </a:solidFill>
              </a:rPr>
              <a:t>Sensitive action</a:t>
            </a:r>
            <a:endParaRPr lang="en-US" sz="1100" dirty="0"/>
          </a:p>
          <a:p>
            <a:r>
              <a:rPr sz="1100" b="1">
                <a:solidFill>
                  <a:srgbClr val="D97706"/>
                </a:solidFill>
              </a:rPr>
              <a:t>RISK EVENT</a:t>
            </a:r>
          </a:p>
        </p:txBody>
      </p:sp>
      <p:sp>
        <p:nvSpPr>
          <p:cNvPr id="26" name="Shape 24"/>
          <p:cNvSpPr/>
          <p:nvPr/>
        </p:nvSpPr>
        <p:spPr>
          <a:xfrm>
            <a:off x="685800" y="2770632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5240">
            <a:solidFill>
              <a:srgbClr val="C9DC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58952" y="2843784"/>
            <a:ext cx="12710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</a:rPr>
              <a:t>Social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40280" y="2990088"/>
            <a:ext cx="731520" cy="0"/>
          </a:xfrm>
          <a:prstGeom prst="line">
            <a:avLst/>
          </a:prstGeom>
          <a:noFill/>
          <a:ln w="21590">
            <a:solidFill>
              <a:srgbClr val="246B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2971800" y="2770632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044952" y="2843784"/>
            <a:ext cx="22311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2B4D"/>
                </a:solidFill>
              </a:rPr>
              <a:t>DM / profile / ad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2990088"/>
            <a:ext cx="795528" cy="0"/>
          </a:xfrm>
          <a:prstGeom prst="line">
            <a:avLst/>
          </a:prstGeom>
          <a:noFill/>
          <a:ln w="21590">
            <a:solidFill>
              <a:srgbClr val="246B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236208" y="2770632"/>
            <a:ext cx="2057400" cy="438912"/>
          </a:xfrm>
          <a:prstGeom prst="roundRect">
            <a:avLst>
              <a:gd name="adj" fmla="val 16667"/>
            </a:avLst>
          </a:prstGeom>
          <a:solidFill>
            <a:srgbClr val="EAF7F0"/>
          </a:solidFill>
          <a:ln w="15240">
            <a:solidFill>
              <a:srgbClr val="CBE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309360" y="2843784"/>
            <a:ext cx="19110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100" b="1">
                <a:solidFill>
                  <a:srgbClr val="2E8B57"/>
                </a:solidFill>
              </a:rPr>
              <a:t>Browser / web service</a:t>
            </a:r>
            <a:endParaRPr lang="en-US" sz="1100" dirty="0"/>
          </a:p>
          <a:p>
            <a:r>
              <a:rPr sz="1100" b="1">
                <a:solidFill>
                  <a:srgbClr val="2E8B57"/>
                </a:solidFill>
              </a:rPr>
              <a:t>OBSERVABLE BOUNDARY</a:t>
            </a:r>
          </a:p>
        </p:txBody>
      </p:sp>
      <p:sp>
        <p:nvSpPr>
          <p:cNvPr id="34" name="Shape 32"/>
          <p:cNvSpPr/>
          <p:nvPr/>
        </p:nvSpPr>
        <p:spPr>
          <a:xfrm>
            <a:off x="8321040" y="2990088"/>
            <a:ext cx="731520" cy="0"/>
          </a:xfrm>
          <a:prstGeom prst="line">
            <a:avLst/>
          </a:prstGeom>
          <a:noFill/>
          <a:ln w="21590">
            <a:solidFill>
              <a:srgbClr val="246B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9052560" y="2770632"/>
            <a:ext cx="1874520" cy="438912"/>
          </a:xfrm>
          <a:prstGeom prst="roundRect">
            <a:avLst>
              <a:gd name="adj" fmla="val 16667"/>
            </a:avLst>
          </a:prstGeom>
          <a:solidFill>
            <a:srgbClr val="FFF4E5"/>
          </a:solidFill>
          <a:ln w="15240">
            <a:solidFill>
              <a:srgbClr val="EAD7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9125712" y="2843784"/>
            <a:ext cx="17282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100" b="1">
                <a:solidFill>
                  <a:srgbClr val="D97706"/>
                </a:solidFill>
              </a:rPr>
              <a:t>Sensitive action</a:t>
            </a:r>
            <a:endParaRPr lang="en-US" sz="1100" dirty="0"/>
          </a:p>
          <a:p>
            <a:r>
              <a:rPr sz="1100" b="1">
                <a:solidFill>
                  <a:srgbClr val="D97706"/>
                </a:solidFill>
              </a:rPr>
              <a:t>RISK EVENT</a:t>
            </a:r>
          </a:p>
        </p:txBody>
      </p:sp>
      <p:sp>
        <p:nvSpPr>
          <p:cNvPr id="37" name="Shape 35"/>
          <p:cNvSpPr/>
          <p:nvPr/>
        </p:nvSpPr>
        <p:spPr>
          <a:xfrm>
            <a:off x="685800" y="3447288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5240">
            <a:solidFill>
              <a:srgbClr val="C9DC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58952" y="3520440"/>
            <a:ext cx="12710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</a:rPr>
              <a:t>QR code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240280" y="3666744"/>
            <a:ext cx="731520" cy="0"/>
          </a:xfrm>
          <a:prstGeom prst="line">
            <a:avLst/>
          </a:prstGeom>
          <a:noFill/>
          <a:ln w="21590">
            <a:solidFill>
              <a:srgbClr val="246B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2971800" y="3447288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044952" y="3520440"/>
            <a:ext cx="22311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2B4D"/>
                </a:solidFill>
              </a:rPr>
              <a:t>Redirect to website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40680" y="3666744"/>
            <a:ext cx="795528" cy="0"/>
          </a:xfrm>
          <a:prstGeom prst="line">
            <a:avLst/>
          </a:prstGeom>
          <a:noFill/>
          <a:ln w="21590">
            <a:solidFill>
              <a:srgbClr val="246B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236208" y="3447288"/>
            <a:ext cx="2057400" cy="438912"/>
          </a:xfrm>
          <a:prstGeom prst="roundRect">
            <a:avLst>
              <a:gd name="adj" fmla="val 16667"/>
            </a:avLst>
          </a:prstGeom>
          <a:solidFill>
            <a:srgbClr val="EAF7F0"/>
          </a:solidFill>
          <a:ln w="15240">
            <a:solidFill>
              <a:srgbClr val="CBE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309360" y="3520440"/>
            <a:ext cx="19110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100" b="1">
                <a:solidFill>
                  <a:srgbClr val="2E8B57"/>
                </a:solidFill>
              </a:rPr>
              <a:t>Browser / web service</a:t>
            </a:r>
            <a:endParaRPr lang="en-US" sz="1100" dirty="0"/>
          </a:p>
          <a:p>
            <a:r>
              <a:rPr sz="1100" b="1">
                <a:solidFill>
                  <a:srgbClr val="2E8B57"/>
                </a:solidFill>
              </a:rPr>
              <a:t>OBSERVABLE BOUNDARY</a:t>
            </a:r>
          </a:p>
        </p:txBody>
      </p:sp>
      <p:sp>
        <p:nvSpPr>
          <p:cNvPr id="45" name="Shape 43"/>
          <p:cNvSpPr/>
          <p:nvPr/>
        </p:nvSpPr>
        <p:spPr>
          <a:xfrm>
            <a:off x="8321040" y="3666744"/>
            <a:ext cx="731520" cy="0"/>
          </a:xfrm>
          <a:prstGeom prst="line">
            <a:avLst/>
          </a:prstGeom>
          <a:noFill/>
          <a:ln w="21590">
            <a:solidFill>
              <a:srgbClr val="246B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9052560" y="3447288"/>
            <a:ext cx="1874520" cy="438912"/>
          </a:xfrm>
          <a:prstGeom prst="roundRect">
            <a:avLst>
              <a:gd name="adj" fmla="val 16667"/>
            </a:avLst>
          </a:prstGeom>
          <a:solidFill>
            <a:srgbClr val="FFF4E5"/>
          </a:solidFill>
          <a:ln w="15240">
            <a:solidFill>
              <a:srgbClr val="EAD7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9125712" y="3520440"/>
            <a:ext cx="17282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100" b="1">
                <a:solidFill>
                  <a:srgbClr val="D97706"/>
                </a:solidFill>
              </a:rPr>
              <a:t>Sensitive action</a:t>
            </a:r>
            <a:endParaRPr lang="en-US" sz="1100" dirty="0"/>
          </a:p>
          <a:p>
            <a:r>
              <a:rPr sz="1100" b="1">
                <a:solidFill>
                  <a:srgbClr val="D97706"/>
                </a:solidFill>
              </a:rPr>
              <a:t>RISK EVENT</a:t>
            </a:r>
          </a:p>
        </p:txBody>
      </p:sp>
      <p:sp>
        <p:nvSpPr>
          <p:cNvPr id="48" name="Shape 46"/>
          <p:cNvSpPr/>
          <p:nvPr/>
        </p:nvSpPr>
        <p:spPr>
          <a:xfrm>
            <a:off x="685800" y="4123944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5240">
            <a:solidFill>
              <a:srgbClr val="C9DC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758952" y="4197096"/>
            <a:ext cx="12710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</a:rPr>
              <a:t>Voice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240280" y="4343400"/>
            <a:ext cx="731520" cy="0"/>
          </a:xfrm>
          <a:prstGeom prst="line">
            <a:avLst/>
          </a:prstGeom>
          <a:noFill/>
          <a:ln w="21590">
            <a:solidFill>
              <a:srgbClr val="246B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2971800" y="4123944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044952" y="4197096"/>
            <a:ext cx="22311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2B4D"/>
                </a:solidFill>
              </a:rPr>
              <a:t>Social engineering → link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440680" y="4343400"/>
            <a:ext cx="795528" cy="0"/>
          </a:xfrm>
          <a:prstGeom prst="line">
            <a:avLst/>
          </a:prstGeom>
          <a:noFill/>
          <a:ln w="21590">
            <a:solidFill>
              <a:srgbClr val="246B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6236208" y="4123944"/>
            <a:ext cx="2057400" cy="438912"/>
          </a:xfrm>
          <a:prstGeom prst="roundRect">
            <a:avLst>
              <a:gd name="adj" fmla="val 16667"/>
            </a:avLst>
          </a:prstGeom>
          <a:solidFill>
            <a:srgbClr val="EAF7F0"/>
          </a:solidFill>
          <a:ln w="15240">
            <a:solidFill>
              <a:srgbClr val="CBE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309360" y="4197096"/>
            <a:ext cx="19110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100" b="1">
                <a:solidFill>
                  <a:srgbClr val="2E8B57"/>
                </a:solidFill>
              </a:rPr>
              <a:t>Browser / web service</a:t>
            </a:r>
            <a:endParaRPr lang="en-US" sz="1100" dirty="0"/>
          </a:p>
          <a:p>
            <a:r>
              <a:rPr sz="1100" b="1">
                <a:solidFill>
                  <a:srgbClr val="2E8B57"/>
                </a:solidFill>
              </a:rPr>
              <a:t>OBSERVABLE BOUNDARY</a:t>
            </a:r>
          </a:p>
        </p:txBody>
      </p:sp>
      <p:sp>
        <p:nvSpPr>
          <p:cNvPr id="56" name="Shape 54"/>
          <p:cNvSpPr/>
          <p:nvPr/>
        </p:nvSpPr>
        <p:spPr>
          <a:xfrm>
            <a:off x="8321040" y="4343400"/>
            <a:ext cx="731520" cy="0"/>
          </a:xfrm>
          <a:prstGeom prst="line">
            <a:avLst/>
          </a:prstGeom>
          <a:noFill/>
          <a:ln w="21590">
            <a:solidFill>
              <a:srgbClr val="246B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9052560" y="4123944"/>
            <a:ext cx="1874520" cy="438912"/>
          </a:xfrm>
          <a:prstGeom prst="roundRect">
            <a:avLst>
              <a:gd name="adj" fmla="val 16667"/>
            </a:avLst>
          </a:prstGeom>
          <a:solidFill>
            <a:srgbClr val="FFF4E5"/>
          </a:solidFill>
          <a:ln w="15240">
            <a:solidFill>
              <a:srgbClr val="EAD7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9125712" y="4197096"/>
            <a:ext cx="17282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100" b="1">
                <a:solidFill>
                  <a:srgbClr val="D97706"/>
                </a:solidFill>
              </a:rPr>
              <a:t>Sensitive action</a:t>
            </a:r>
            <a:endParaRPr lang="en-US" sz="1100" dirty="0"/>
          </a:p>
          <a:p>
            <a:r>
              <a:rPr sz="1100" b="1">
                <a:solidFill>
                  <a:srgbClr val="D97706"/>
                </a:solidFill>
              </a:rPr>
              <a:t>RISK EVENT</a:t>
            </a:r>
          </a:p>
        </p:txBody>
      </p:sp>
      <p:sp>
        <p:nvSpPr>
          <p:cNvPr id="59" name="Shape 57"/>
          <p:cNvSpPr/>
          <p:nvPr/>
        </p:nvSpPr>
        <p:spPr>
          <a:xfrm>
            <a:off x="685800" y="4800600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5240">
            <a:solidFill>
              <a:srgbClr val="C9DC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758952" y="4873752"/>
            <a:ext cx="12710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</a:rPr>
              <a:t>PDF / file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240280" y="5020056"/>
            <a:ext cx="731520" cy="0"/>
          </a:xfrm>
          <a:prstGeom prst="line">
            <a:avLst/>
          </a:prstGeom>
          <a:noFill/>
          <a:ln w="21590">
            <a:solidFill>
              <a:srgbClr val="246B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2971800" y="4800600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3044952" y="4873752"/>
            <a:ext cx="22311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2B4D"/>
                </a:solidFill>
              </a:rPr>
              <a:t>Link / exploit / download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440680" y="5020056"/>
            <a:ext cx="795528" cy="0"/>
          </a:xfrm>
          <a:prstGeom prst="line">
            <a:avLst/>
          </a:prstGeom>
          <a:noFill/>
          <a:ln w="21590">
            <a:solidFill>
              <a:srgbClr val="246B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6236208" y="4800600"/>
            <a:ext cx="2057400" cy="438912"/>
          </a:xfrm>
          <a:prstGeom prst="roundRect">
            <a:avLst>
              <a:gd name="adj" fmla="val 16667"/>
            </a:avLst>
          </a:prstGeom>
          <a:solidFill>
            <a:srgbClr val="EAF7F0"/>
          </a:solidFill>
          <a:ln w="15240">
            <a:solidFill>
              <a:srgbClr val="CBE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6309360" y="4873752"/>
            <a:ext cx="19110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100" b="1">
                <a:solidFill>
                  <a:srgbClr val="2E8B57"/>
                </a:solidFill>
              </a:rPr>
              <a:t>Browser / web service</a:t>
            </a:r>
            <a:endParaRPr lang="en-US" sz="1100" dirty="0"/>
          </a:p>
          <a:p>
            <a:r>
              <a:rPr sz="1100" b="1">
                <a:solidFill>
                  <a:srgbClr val="2E8B57"/>
                </a:solidFill>
              </a:rPr>
              <a:t>OBSERVABLE BOUNDARY</a:t>
            </a:r>
          </a:p>
        </p:txBody>
      </p:sp>
      <p:sp>
        <p:nvSpPr>
          <p:cNvPr id="67" name="Shape 65"/>
          <p:cNvSpPr/>
          <p:nvPr/>
        </p:nvSpPr>
        <p:spPr>
          <a:xfrm>
            <a:off x="8321040" y="5020056"/>
            <a:ext cx="731520" cy="0"/>
          </a:xfrm>
          <a:prstGeom prst="line">
            <a:avLst/>
          </a:prstGeom>
          <a:noFill/>
          <a:ln w="21590">
            <a:solidFill>
              <a:srgbClr val="246B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9052560" y="4800600"/>
            <a:ext cx="1874520" cy="438912"/>
          </a:xfrm>
          <a:prstGeom prst="roundRect">
            <a:avLst>
              <a:gd name="adj" fmla="val 16667"/>
            </a:avLst>
          </a:prstGeom>
          <a:solidFill>
            <a:srgbClr val="FFF4E5"/>
          </a:solidFill>
          <a:ln w="15240">
            <a:solidFill>
              <a:srgbClr val="EAD7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9125712" y="4873752"/>
            <a:ext cx="17282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100" b="1">
                <a:solidFill>
                  <a:srgbClr val="D97706"/>
                </a:solidFill>
              </a:rPr>
              <a:t>Sensitive action</a:t>
            </a:r>
            <a:endParaRPr lang="en-US" sz="1100" dirty="0"/>
          </a:p>
          <a:p>
            <a:r>
              <a:rPr sz="1100" b="1">
                <a:solidFill>
                  <a:srgbClr val="D97706"/>
                </a:solidFill>
              </a:rPr>
              <a:t>RISK EVENT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307" y="127295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7324D"/>
                </a:solidFill>
                <a:latin typeface="Aptos Display"/>
              </a:rPr>
              <a:t>What the browser needs to observe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2526757"/>
            <a:ext cx="428611" cy="402336"/>
          </a:xfrm>
          <a:prstGeom prst="roundRect">
            <a:avLst>
              <a:gd name="adj" fmla="val 18182"/>
            </a:avLst>
          </a:prstGeom>
          <a:solidFill>
            <a:srgbClr val="246BCE"/>
          </a:solidFill>
          <a:ln w="15240">
            <a:solidFill>
              <a:srgbClr val="246B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2599909"/>
            <a:ext cx="273549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6696" y="2727925"/>
            <a:ext cx="1467944" cy="0"/>
          </a:xfrm>
          <a:prstGeom prst="line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39776" y="3093685"/>
            <a:ext cx="151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246BCE"/>
                </a:solidFill>
              </a:rPr>
              <a:t>Identify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02336" y="3652135"/>
            <a:ext cx="1600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00"/>
              <a:t>Declared identity / official domain / authentication context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2468880" y="2526757"/>
            <a:ext cx="428611" cy="402336"/>
          </a:xfrm>
          <a:prstGeom prst="roundRect">
            <a:avLst>
              <a:gd name="adj" fmla="val 18182"/>
            </a:avLst>
          </a:prstGeom>
          <a:solidFill>
            <a:srgbClr val="6B4EFF"/>
          </a:solidFill>
          <a:ln w="15240">
            <a:solidFill>
              <a:srgbClr val="6B4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542032" y="2599909"/>
            <a:ext cx="273549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98648" y="2727925"/>
            <a:ext cx="1467944" cy="0"/>
          </a:xfrm>
          <a:prstGeom prst="line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001590" y="3093685"/>
            <a:ext cx="151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6B4EFF"/>
                </a:solidFill>
              </a:rPr>
              <a:t>Collect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348081" y="3652135"/>
            <a:ext cx="1600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00"/>
              <a:t>Credential / financial / identity / personal / device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4370832" y="2526757"/>
            <a:ext cx="428611" cy="402336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443984" y="2599909"/>
            <a:ext cx="273549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727925"/>
            <a:ext cx="1467944" cy="0"/>
          </a:xfrm>
          <a:prstGeom prst="line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973611" y="3093685"/>
            <a:ext cx="151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D97706"/>
                </a:solidFill>
              </a:rPr>
              <a:t>Redirect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197481" y="3652135"/>
            <a:ext cx="1600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00"/>
              <a:t>Form destination / redirect / cross-origin relation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6272784" y="2526757"/>
            <a:ext cx="428611" cy="402336"/>
          </a:xfrm>
          <a:prstGeom prst="roundRect">
            <a:avLst>
              <a:gd name="adj" fmla="val 18182"/>
            </a:avLst>
          </a:prstGeom>
          <a:solidFill>
            <a:srgbClr val="0EA5C8"/>
          </a:solidFill>
          <a:ln w="15240">
            <a:solidFill>
              <a:srgbClr val="0EA5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345936" y="2599909"/>
            <a:ext cx="273549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02552" y="2727925"/>
            <a:ext cx="1467944" cy="0"/>
          </a:xfrm>
          <a:prstGeom prst="line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945632" y="3093685"/>
            <a:ext cx="151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0EA5C8"/>
                </a:solidFill>
              </a:rPr>
              <a:t>Observe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108192" y="3652135"/>
            <a:ext cx="1600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00"/>
              <a:t>DOM mutation / scripts / permissions / interaction</a:t>
            </a:r>
          </a:p>
        </p:txBody>
      </p:sp>
      <p:sp>
        <p:nvSpPr>
          <p:cNvPr id="24" name="Shape 22"/>
          <p:cNvSpPr/>
          <p:nvPr/>
        </p:nvSpPr>
        <p:spPr>
          <a:xfrm>
            <a:off x="8174736" y="2526757"/>
            <a:ext cx="428611" cy="402336"/>
          </a:xfrm>
          <a:prstGeom prst="roundRect">
            <a:avLst>
              <a:gd name="adj" fmla="val 18182"/>
            </a:avLst>
          </a:prstGeom>
          <a:solidFill>
            <a:srgbClr val="C0392B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247888" y="2599909"/>
            <a:ext cx="273549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604504" y="2727925"/>
            <a:ext cx="1467944" cy="0"/>
          </a:xfrm>
          <a:prstGeom prst="line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057791" y="3093685"/>
            <a:ext cx="151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C0392B"/>
                </a:solidFill>
              </a:rPr>
              <a:t>Compare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018903" y="3652135"/>
            <a:ext cx="1600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00"/>
              <a:t>Expected vs unexpected vs mismatch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10076688" y="2526757"/>
            <a:ext cx="428611" cy="402336"/>
          </a:xfrm>
          <a:prstGeom prst="roundRect">
            <a:avLst>
              <a:gd name="adj" fmla="val 18182"/>
            </a:avLst>
          </a:prstGeom>
          <a:solidFill>
            <a:srgbClr val="17324D"/>
          </a:solidFill>
          <a:ln w="1524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0149840" y="2599909"/>
            <a:ext cx="273549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09398" y="3093685"/>
            <a:ext cx="151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17324D"/>
                </a:solidFill>
              </a:rPr>
              <a:t>Assess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920855" y="3652135"/>
            <a:ext cx="1600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00"/>
              <a:t>Benign / suspicious / malicious / insufficient evidence</a:t>
            </a:r>
            <a:endParaRPr lang="en-US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900269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7324D"/>
                </a:solidFill>
                <a:latin typeface="Aptos Display"/>
              </a:rPr>
              <a:t>Why a single signal is not enough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25389" y="1710737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00"/>
              <a:t>A legitimate service may request sensitive data; a malicious service may imitate legitimate appearance. The challenge is contextual interpretation.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777240" y="2636093"/>
            <a:ext cx="3154680" cy="1533698"/>
          </a:xfrm>
          <a:prstGeom prst="roundRect">
            <a:avLst>
              <a:gd name="adj" fmla="val 2319"/>
            </a:avLst>
          </a:prstGeom>
          <a:solidFill>
            <a:srgbClr val="EAF2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22376" y="2636093"/>
            <a:ext cx="54864" cy="1533698"/>
          </a:xfrm>
          <a:prstGeom prst="rect">
            <a:avLst/>
          </a:prstGeom>
          <a:solidFill>
            <a:srgbClr val="246BCE"/>
          </a:solidFill>
          <a:ln w="12700">
            <a:solidFill>
              <a:srgbClr val="246B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632204" y="29341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</a:rPr>
              <a:t>URL-only 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" y="1605315"/>
            <a:ext cx="2770632" cy="2944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06424" y="3257885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00"/>
              <a:t>Uses URL/domain patterns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822960" y="15288768"/>
            <a:ext cx="91440" cy="91440"/>
          </a:xfrm>
          <a:prstGeom prst="ellipse">
            <a:avLst/>
          </a:prstGeom>
          <a:solidFill>
            <a:srgbClr val="246BCE"/>
          </a:solidFill>
          <a:ln w="12700">
            <a:solidFill>
              <a:srgbClr val="246B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87552" y="15215616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172B4D"/>
                </a:solidFill>
              </a:rPr>
              <a:t>Useful first filter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28419552"/>
            <a:ext cx="91440" cy="91440"/>
          </a:xfrm>
          <a:prstGeom prst="ellipse">
            <a:avLst/>
          </a:prstGeom>
          <a:solidFill>
            <a:srgbClr val="246BCE"/>
          </a:solidFill>
          <a:ln w="12700">
            <a:solidFill>
              <a:srgbClr val="246B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87552" y="28346400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172B4D"/>
                </a:solidFill>
              </a:rPr>
              <a:t>Low-latency signal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41550336"/>
            <a:ext cx="91440" cy="91440"/>
          </a:xfrm>
          <a:prstGeom prst="ellipse">
            <a:avLst/>
          </a:prstGeom>
          <a:solidFill>
            <a:srgbClr val="246BCE"/>
          </a:solidFill>
          <a:ln w="12700">
            <a:solidFill>
              <a:srgbClr val="246B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87552" y="41477184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172B4D"/>
                </a:solidFill>
              </a:rPr>
              <a:t>Cannot explain page intent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61688" y="2636093"/>
            <a:ext cx="3154680" cy="1533698"/>
          </a:xfrm>
          <a:prstGeom prst="roundRect">
            <a:avLst>
              <a:gd name="adj" fmla="val 2319"/>
            </a:avLst>
          </a:prstGeom>
          <a:solidFill>
            <a:srgbClr val="F1EE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270248" y="2636093"/>
            <a:ext cx="73152" cy="1533698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960481" y="2853885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</a:rPr>
              <a:t>Behavior-only view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61688" y="1605315"/>
            <a:ext cx="2770632" cy="2944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60481" y="3264950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00"/>
              <a:t>Can capture runtime anomalies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4389120" y="15288768"/>
            <a:ext cx="91440" cy="91440"/>
          </a:xfrm>
          <a:prstGeom prst="ellipse">
            <a:avLst/>
          </a:prstGeom>
          <a:solidFill>
            <a:srgbClr val="6B4EFF"/>
          </a:solidFill>
          <a:ln w="12700">
            <a:solidFill>
              <a:srgbClr val="6B4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53712" y="15215616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172B4D"/>
                </a:solidFill>
              </a:rPr>
              <a:t>Needs expected-purpose context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89120" y="28419552"/>
            <a:ext cx="91440" cy="91440"/>
          </a:xfrm>
          <a:prstGeom prst="ellipse">
            <a:avLst/>
          </a:prstGeom>
          <a:solidFill>
            <a:srgbClr val="6B4EFF"/>
          </a:solidFill>
          <a:ln w="12700">
            <a:solidFill>
              <a:srgbClr val="6B4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53712" y="28346400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172B4D"/>
                </a:solidFill>
              </a:rPr>
              <a:t>May overreact to unusual but valid behavior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89120" y="41550336"/>
            <a:ext cx="91440" cy="91440"/>
          </a:xfrm>
          <a:prstGeom prst="ellipse">
            <a:avLst/>
          </a:prstGeom>
          <a:solidFill>
            <a:srgbClr val="6B4EFF"/>
          </a:solidFill>
          <a:ln w="12700">
            <a:solidFill>
              <a:srgbClr val="6B4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553712" y="41477184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172B4D"/>
                </a:solidFill>
              </a:rPr>
              <a:t>Coverage depends on observed behavior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863840" y="2636093"/>
            <a:ext cx="3154680" cy="1533698"/>
          </a:xfrm>
          <a:prstGeom prst="roundRect">
            <a:avLst>
              <a:gd name="adj" fmla="val 2319"/>
            </a:avLst>
          </a:prstGeom>
          <a:solidFill>
            <a:srgbClr val="EAF7F0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7831697" y="2636093"/>
            <a:ext cx="77863" cy="1533698"/>
          </a:xfrm>
          <a:prstGeom prst="rect">
            <a:avLst/>
          </a:prstGeom>
          <a:solidFill>
            <a:srgbClr val="129A8A"/>
          </a:solidFill>
          <a:ln w="12700">
            <a:solidFill>
              <a:srgbClr val="129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686800" y="2820635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</a:rPr>
              <a:t>CAPSTONE-1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927848" y="1605315"/>
            <a:ext cx="2770632" cy="2944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288897" y="3247909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150"/>
              <a:t>URL + page + form + data request + behavior</a:t>
            </a:r>
            <a:endParaRPr lang="en-US" sz="1150"/>
          </a:p>
        </p:txBody>
      </p:sp>
      <p:sp>
        <p:nvSpPr>
          <p:cNvPr id="37" name="Shape 35"/>
          <p:cNvSpPr/>
          <p:nvPr/>
        </p:nvSpPr>
        <p:spPr>
          <a:xfrm>
            <a:off x="7955280" y="15288768"/>
            <a:ext cx="91440" cy="91440"/>
          </a:xfrm>
          <a:prstGeom prst="ellipse">
            <a:avLst/>
          </a:prstGeom>
          <a:solidFill>
            <a:srgbClr val="129A8A"/>
          </a:solidFill>
          <a:ln w="12700">
            <a:solidFill>
              <a:srgbClr val="129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119872" y="15215616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172B4D"/>
                </a:solidFill>
              </a:rPr>
              <a:t>Identity / expected purpose / destination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955280" y="28419552"/>
            <a:ext cx="91440" cy="91440"/>
          </a:xfrm>
          <a:prstGeom prst="ellipse">
            <a:avLst/>
          </a:prstGeom>
          <a:solidFill>
            <a:srgbClr val="129A8A"/>
          </a:solidFill>
          <a:ln w="12700">
            <a:solidFill>
              <a:srgbClr val="129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8119872" y="28346400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172B4D"/>
                </a:solidFill>
              </a:rPr>
              <a:t>Evidence correlation + local ML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955280" y="41550336"/>
            <a:ext cx="91440" cy="91440"/>
          </a:xfrm>
          <a:prstGeom prst="ellipse">
            <a:avLst/>
          </a:prstGeom>
          <a:solidFill>
            <a:srgbClr val="129A8A"/>
          </a:solidFill>
          <a:ln w="12700">
            <a:solidFill>
              <a:srgbClr val="129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119872" y="41477184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172B4D"/>
                </a:solidFill>
              </a:rPr>
              <a:t>Research question:</a:t>
            </a:r>
            <a:endParaRPr lang="en-US" sz="1150" dirty="0"/>
          </a:p>
          <a:p>
            <a:r>
              <a:rPr sz="1150">
                <a:solidFill>
                  <a:srgbClr val="172B4D"/>
                </a:solidFill>
              </a:rPr>
              <a:t>Can multiple browser-observable signals be correlated privately and locally?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2440" y="562356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>
                <a:solidFill>
                  <a:srgbClr val="5A5A5A"/>
                </a:solidFill>
                <a:latin typeface="Aptos"/>
              </a:rPr>
              <a:t>Research context: Phishpedia • PhishIntention • Leaky Forms • WebGraph [1–4]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11343" y="1322555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7324D"/>
                </a:solidFill>
                <a:latin typeface="Aptos Display"/>
              </a:rPr>
              <a:t>Our central idea: observe → verify → explain → prevent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93776" y="2739875"/>
            <a:ext cx="1691640" cy="585216"/>
          </a:xfrm>
          <a:prstGeom prst="roundRect">
            <a:avLst>
              <a:gd name="adj" fmla="val 12500"/>
            </a:avLst>
          </a:prstGeom>
          <a:solidFill>
            <a:srgbClr val="246BCE"/>
          </a:solidFill>
          <a:ln w="15240">
            <a:solidFill>
              <a:srgbClr val="246B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66928" y="2813027"/>
            <a:ext cx="154533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OBSERVE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3776" y="3453107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00"/>
              <a:t>Browser evidence</a:t>
            </a:r>
            <a:endParaRPr lang="en-US" sz="1200"/>
          </a:p>
          <a:p>
            <a:r>
              <a:rPr sz="1200"/>
              <a:t>URL • DOM • forms • navigation</a:t>
            </a:r>
          </a:p>
        </p:txBody>
      </p:sp>
      <p:sp>
        <p:nvSpPr>
          <p:cNvPr id="7" name="Shape 5"/>
          <p:cNvSpPr/>
          <p:nvPr/>
        </p:nvSpPr>
        <p:spPr>
          <a:xfrm>
            <a:off x="2194560" y="3032483"/>
            <a:ext cx="192024" cy="0"/>
          </a:xfrm>
          <a:prstGeom prst="line">
            <a:avLst/>
          </a:prstGeom>
          <a:noFill/>
          <a:ln w="25400">
            <a:solidFill>
              <a:srgbClr val="D8E1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414016" y="2739875"/>
            <a:ext cx="1691640" cy="585216"/>
          </a:xfrm>
          <a:prstGeom prst="roundRect">
            <a:avLst>
              <a:gd name="adj" fmla="val 12500"/>
            </a:avLst>
          </a:prstGeom>
          <a:solidFill>
            <a:srgbClr val="0EA5C8"/>
          </a:solidFill>
          <a:ln w="15240">
            <a:solidFill>
              <a:srgbClr val="0EA5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487168" y="2813027"/>
            <a:ext cx="154533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IDENTIFY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14016" y="3453107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00"/>
              <a:t>Who is this service?</a:t>
            </a:r>
            <a:endParaRPr lang="en-US" sz="1200"/>
          </a:p>
          <a:p>
            <a:r>
              <a:rPr sz="1200"/>
              <a:t>Identity / origin / context</a:t>
            </a:r>
          </a:p>
        </p:txBody>
      </p:sp>
      <p:sp>
        <p:nvSpPr>
          <p:cNvPr id="11" name="Shape 9"/>
          <p:cNvSpPr/>
          <p:nvPr/>
        </p:nvSpPr>
        <p:spPr>
          <a:xfrm>
            <a:off x="4114800" y="3032483"/>
            <a:ext cx="192024" cy="0"/>
          </a:xfrm>
          <a:prstGeom prst="line">
            <a:avLst/>
          </a:prstGeom>
          <a:noFill/>
          <a:ln w="25400">
            <a:solidFill>
              <a:srgbClr val="D8E1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334256" y="2739875"/>
            <a:ext cx="1691640" cy="585216"/>
          </a:xfrm>
          <a:prstGeom prst="roundRect">
            <a:avLst>
              <a:gd name="adj" fmla="val 12500"/>
            </a:avLst>
          </a:prstGeom>
          <a:solidFill>
            <a:srgbClr val="6B4EFF"/>
          </a:solidFill>
          <a:ln w="15240">
            <a:solidFill>
              <a:srgbClr val="6B4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407408" y="2813027"/>
            <a:ext cx="154533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COMPARE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34256" y="3453107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00"/>
              <a:t>What should it need?</a:t>
            </a:r>
            <a:endParaRPr lang="en-US" sz="1200"/>
          </a:p>
          <a:p>
            <a:r>
              <a:rPr sz="1200"/>
              <a:t>Expected purpose / data</a:t>
            </a:r>
          </a:p>
        </p:txBody>
      </p:sp>
      <p:sp>
        <p:nvSpPr>
          <p:cNvPr id="15" name="Shape 13"/>
          <p:cNvSpPr/>
          <p:nvPr/>
        </p:nvSpPr>
        <p:spPr>
          <a:xfrm>
            <a:off x="6035040" y="3032483"/>
            <a:ext cx="192024" cy="0"/>
          </a:xfrm>
          <a:prstGeom prst="line">
            <a:avLst/>
          </a:prstGeom>
          <a:noFill/>
          <a:ln w="25400">
            <a:solidFill>
              <a:srgbClr val="D8E1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254496" y="2739875"/>
            <a:ext cx="1691640" cy="585216"/>
          </a:xfrm>
          <a:prstGeom prst="roundRect">
            <a:avLst>
              <a:gd name="adj" fmla="val 12500"/>
            </a:avLst>
          </a:prstGeom>
          <a:solidFill>
            <a:srgbClr val="D97706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327648" y="2813027"/>
            <a:ext cx="154533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CORRELATE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54495" y="3426832"/>
            <a:ext cx="1796744" cy="593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sz="1200"/>
              <a:t>What actually happened?</a:t>
            </a:r>
            <a:endParaRPr lang="en-US" dirty="0"/>
          </a:p>
          <a:p>
            <a:r>
              <a:rPr sz="1200"/>
              <a:t>Behavior / destination / changes</a:t>
            </a:r>
          </a:p>
        </p:txBody>
      </p:sp>
      <p:sp>
        <p:nvSpPr>
          <p:cNvPr id="19" name="Shape 17"/>
          <p:cNvSpPr/>
          <p:nvPr/>
        </p:nvSpPr>
        <p:spPr>
          <a:xfrm>
            <a:off x="7955280" y="3032483"/>
            <a:ext cx="192024" cy="0"/>
          </a:xfrm>
          <a:prstGeom prst="line">
            <a:avLst/>
          </a:prstGeom>
          <a:noFill/>
          <a:ln w="25400">
            <a:solidFill>
              <a:srgbClr val="D8E1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174736" y="2739875"/>
            <a:ext cx="1691640" cy="585216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247888" y="2813027"/>
            <a:ext cx="154533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ASSESS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74736" y="3453107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00"/>
              <a:t>Risk + threat type</a:t>
            </a:r>
            <a:endParaRPr lang="en-US" sz="1200"/>
          </a:p>
          <a:p>
            <a:r>
              <a:rPr sz="1200"/>
              <a:t>Evidence + ML + rules</a:t>
            </a:r>
          </a:p>
        </p:txBody>
      </p:sp>
      <p:sp>
        <p:nvSpPr>
          <p:cNvPr id="23" name="Shape 21"/>
          <p:cNvSpPr/>
          <p:nvPr/>
        </p:nvSpPr>
        <p:spPr>
          <a:xfrm>
            <a:off x="9875520" y="3032483"/>
            <a:ext cx="192024" cy="0"/>
          </a:xfrm>
          <a:prstGeom prst="line">
            <a:avLst/>
          </a:prstGeom>
          <a:noFill/>
          <a:ln w="25400">
            <a:solidFill>
              <a:srgbClr val="D8E1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0094976" y="2739875"/>
            <a:ext cx="1691640" cy="585216"/>
          </a:xfrm>
          <a:prstGeom prst="roundRect">
            <a:avLst>
              <a:gd name="adj" fmla="val 12500"/>
            </a:avLst>
          </a:prstGeom>
          <a:solidFill>
            <a:srgbClr val="129A8A"/>
          </a:solidFill>
          <a:ln w="15240">
            <a:solidFill>
              <a:srgbClr val="129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0168128" y="2813027"/>
            <a:ext cx="154533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ENFORCE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788425" y="3453108"/>
            <a:ext cx="2243433" cy="593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00"/>
              <a:t>Allow / Warn / Confirm / Block / Contain</a:t>
            </a:r>
          </a:p>
        </p:txBody>
      </p:sp>
      <p:sp>
        <p:nvSpPr>
          <p:cNvPr id="27" name="Text 25"/>
          <p:cNvSpPr/>
          <p:nvPr/>
        </p:nvSpPr>
        <p:spPr>
          <a:xfrm>
            <a:off x="396820" y="44059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And throughout the pipeline: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83770" y="4973026"/>
            <a:ext cx="2161559" cy="443429"/>
          </a:xfrm>
          <a:prstGeom prst="rect">
            <a:avLst/>
          </a:prstGeom>
          <a:solidFill>
            <a:srgbClr val="EAF7F0"/>
          </a:solidFill>
          <a:ln>
            <a:solidFill>
              <a:srgbClr val="129A8A">
                <a:alpha val="6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9A8A"/>
                </a:solidFill>
              </a:rPr>
              <a:t>Privacy-first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528049" y="4973234"/>
            <a:ext cx="2106456" cy="443429"/>
          </a:xfrm>
          <a:prstGeom prst="rect">
            <a:avLst/>
          </a:prstGeom>
          <a:solidFill>
            <a:srgbClr val="EAF2FF"/>
          </a:solidFill>
          <a:ln>
            <a:solidFill>
              <a:srgbClr val="246BCE">
                <a:alpha val="6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46BCE"/>
                </a:solidFill>
              </a:rPr>
              <a:t>Local-first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36984" y="4972402"/>
            <a:ext cx="2474905" cy="443429"/>
          </a:xfrm>
          <a:prstGeom prst="rect">
            <a:avLst/>
          </a:prstGeom>
          <a:solidFill>
            <a:srgbClr val="F1EEFF"/>
          </a:solidFill>
          <a:ln>
            <a:solidFill>
              <a:srgbClr val="6B4EFF">
                <a:alpha val="6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4EFF"/>
                </a:solidFill>
              </a:rPr>
              <a:t>Evidence-backed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667372" y="4963465"/>
            <a:ext cx="2152801" cy="443429"/>
          </a:xfrm>
          <a:prstGeom prst="rect">
            <a:avLst/>
          </a:prstGeom>
          <a:solidFill>
            <a:srgbClr val="FFF4E5"/>
          </a:solidFill>
          <a:ln>
            <a:solidFill>
              <a:srgbClr val="D97706">
                <a:alpha val="6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</a:rPr>
              <a:t>Explainable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032229" y="4962633"/>
            <a:ext cx="1959432" cy="443429"/>
          </a:xfrm>
          <a:prstGeom prst="rect">
            <a:avLst/>
          </a:prstGeom>
          <a:solidFill>
            <a:srgbClr val="E9F8FC"/>
          </a:solidFill>
          <a:ln>
            <a:solidFill>
              <a:srgbClr val="0EA5C8">
                <a:alpha val="6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A5C8"/>
                </a:solidFill>
              </a:rPr>
              <a:t>Testable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7324D"/>
                </a:solidFill>
                <a:latin typeface="Aptos Display"/>
              </a:rPr>
              <a:t>High-level 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17324D"/>
          </a:solidFill>
          <a:ln w="1524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30352" y="1490472"/>
            <a:ext cx="186537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CHROMIUM / BROWSER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237744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EAF2FF"/>
          </a:solidFill>
          <a:ln w="15240">
            <a:solidFill>
              <a:srgbClr val="C6D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84632" y="2450592"/>
            <a:ext cx="195681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324D"/>
                </a:solidFill>
              </a:rPr>
              <a:t>Content Script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324D"/>
                </a:solidFill>
              </a:rPr>
              <a:t>DOM / Forms / Navigation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463040" y="2057400"/>
            <a:ext cx="0" cy="320040"/>
          </a:xfrm>
          <a:prstGeom prst="line">
            <a:avLst/>
          </a:prstGeom>
          <a:noFill/>
          <a:ln w="25400">
            <a:solidFill>
              <a:srgbClr val="246B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017520" y="1417320"/>
            <a:ext cx="2423160" cy="640080"/>
          </a:xfrm>
          <a:prstGeom prst="roundRect">
            <a:avLst>
              <a:gd name="adj" fmla="val 11429"/>
            </a:avLst>
          </a:prstGeom>
          <a:solidFill>
            <a:srgbClr val="246BCE"/>
          </a:solidFill>
          <a:ln w="15240">
            <a:solidFill>
              <a:srgbClr val="246B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090672" y="1490472"/>
            <a:ext cx="227685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EVIDENCE + FEATURE ENGINE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71800" y="237744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EAF2FF"/>
          </a:solidFill>
          <a:ln w="15240">
            <a:solidFill>
              <a:srgbClr val="C6D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044952" y="2450592"/>
            <a:ext cx="236829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324D"/>
                </a:solidFill>
              </a:rPr>
              <a:t>Schema v3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324D"/>
                </a:solidFill>
              </a:rPr>
              <a:t>Evidence normalization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971800" y="342900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044952" y="3502152"/>
            <a:ext cx="236829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B4D"/>
                </a:solidFill>
              </a:rPr>
              <a:t>Feature Vector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2B4D"/>
                </a:solidFill>
              </a:rPr>
              <a:t>URL • DOM • Form • Context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14173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6B4EFF"/>
          </a:solidFill>
          <a:ln w="15240">
            <a:solidFill>
              <a:srgbClr val="6B4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45352" y="1490472"/>
            <a:ext cx="168249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LOCAL ML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35040" y="237744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1EEFF"/>
          </a:solidFill>
          <a:ln w="15240">
            <a:solidFill>
              <a:srgbClr val="D6CE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08192" y="2450592"/>
            <a:ext cx="195681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B4D"/>
                </a:solidFill>
              </a:rPr>
              <a:t>ONNX Runtime Web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2B4D"/>
                </a:solidFill>
              </a:rPr>
              <a:t>Service Worker / Offscreen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778240" y="1417320"/>
            <a:ext cx="2423160" cy="640080"/>
          </a:xfrm>
          <a:prstGeom prst="roundRect">
            <a:avLst>
              <a:gd name="adj" fmla="val 11429"/>
            </a:avLst>
          </a:prstGeom>
          <a:solidFill>
            <a:srgbClr val="129A8A"/>
          </a:solidFill>
          <a:ln w="15240">
            <a:solidFill>
              <a:srgbClr val="129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851392" y="1490472"/>
            <a:ext cx="227685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ASSESSMENT + POLICY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641080" y="237744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EAF7F0"/>
          </a:solidFill>
          <a:ln w="15240">
            <a:solidFill>
              <a:srgbClr val="C9E3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714232" y="2450592"/>
            <a:ext cx="255117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B4D"/>
                </a:solidFill>
              </a:rPr>
              <a:t>Evidence Correlation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2B4D"/>
                </a:solidFill>
              </a:rPr>
              <a:t>Threat Taxonomy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641080" y="342900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FFF4E5"/>
          </a:solidFill>
          <a:ln w="15240">
            <a:solidFill>
              <a:srgbClr val="EAD5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714232" y="3502152"/>
            <a:ext cx="255117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B4D"/>
                </a:solidFill>
              </a:rPr>
              <a:t>ALLOW • WARN • CONFIRM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2B4D"/>
                </a:solidFill>
              </a:rPr>
              <a:t>BLOCK • CONTAIN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560320" y="2697480"/>
            <a:ext cx="411480" cy="0"/>
          </a:xfrm>
          <a:prstGeom prst="line">
            <a:avLst/>
          </a:prstGeom>
          <a:noFill/>
          <a:ln w="25400">
            <a:solidFill>
              <a:srgbClr val="246B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532120" y="3813048"/>
            <a:ext cx="475488" cy="0"/>
          </a:xfrm>
          <a:prstGeom prst="line">
            <a:avLst/>
          </a:prstGeom>
          <a:noFill/>
          <a:ln w="25400">
            <a:solidFill>
              <a:srgbClr val="6B4E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 flipV="1">
            <a:off x="8136285" y="2788920"/>
            <a:ext cx="498151" cy="9769"/>
          </a:xfrm>
          <a:prstGeom prst="line">
            <a:avLst/>
          </a:prstGeom>
          <a:ln>
            <a:headEnd type="non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794760" y="4800600"/>
            <a:ext cx="27889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867912" y="4873752"/>
            <a:ext cx="264261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B4D"/>
                </a:solidFill>
              </a:rPr>
              <a:t>USER UI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B4D"/>
                </a:solidFill>
              </a:rPr>
              <a:t>Warning / Status / Evidence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012680" y="4251960"/>
            <a:ext cx="0" cy="484632"/>
          </a:xfrm>
          <a:prstGeom prst="line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7882128" y="4800600"/>
            <a:ext cx="3154680" cy="804672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524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955280" y="4873752"/>
            <a:ext cx="300837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/>
              <a:t>OPTIONAL RESEARCH SERVICES</a:t>
            </a:r>
            <a:endParaRPr lang="en-US" sz="1100"/>
          </a:p>
          <a:p>
            <a:pPr marL="0" indent="0" algn="ctr">
              <a:buNone/>
            </a:pPr>
            <a:r>
              <a:rPr lang="en-US" sz="1100" b="1" dirty="0" err="1"/>
              <a:t>FastAPI</a:t>
            </a:r>
            <a:r>
              <a:rPr lang="en-US" sz="1100" b="1" dirty="0"/>
              <a:t> + PostgreSQL</a:t>
            </a:r>
            <a:endParaRPr lang="en-US" sz="1100"/>
          </a:p>
        </p:txBody>
      </p:sp>
      <p:sp>
        <p:nvSpPr>
          <p:cNvPr id="33" name="Shape 31"/>
          <p:cNvSpPr/>
          <p:nvPr/>
        </p:nvSpPr>
        <p:spPr>
          <a:xfrm>
            <a:off x="5559552" y="2697480"/>
            <a:ext cx="0" cy="2039112"/>
          </a:xfrm>
          <a:prstGeom prst="line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34" name="TextBox 33"/>
          <p:cNvSpPr txBox="1"/>
          <p:nvPr/>
        </p:nvSpPr>
        <p:spPr>
          <a:xfrm>
            <a:off x="3063240" y="4434840"/>
            <a:ext cx="2423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ptos"/>
              </a:rPr>
              <a:t>Research context: domain / destination / dynamic behavior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496" y="97425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7324D"/>
                </a:solidFill>
                <a:latin typeface="Aptos Display"/>
              </a:rPr>
              <a:t>How CAPSTONE-1 classifies behavior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15427" y="2233834"/>
            <a:ext cx="2886315" cy="2527878"/>
          </a:xfrm>
          <a:prstGeom prst="roundRect">
            <a:avLst>
              <a:gd name="adj" fmla="val 2807"/>
            </a:avLst>
          </a:prstGeom>
          <a:solidFill>
            <a:srgbClr val="EAF2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15427" y="2233834"/>
            <a:ext cx="54477" cy="2527878"/>
          </a:xfrm>
          <a:prstGeom prst="rect">
            <a:avLst/>
          </a:prstGeom>
          <a:solidFill>
            <a:srgbClr val="246BCE"/>
          </a:solidFill>
          <a:ln w="12700">
            <a:solidFill>
              <a:srgbClr val="246B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1540" y="2517841"/>
            <a:ext cx="1975769" cy="2918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</a:rPr>
              <a:t>Service identity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9175" y="2875947"/>
            <a:ext cx="2362130" cy="17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/>
              <a:t>Who claims to be the provider?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• service category</a:t>
            </a:r>
          </a:p>
          <a:p>
            <a:pPr marL="0" indent="0">
              <a:buNone/>
            </a:pPr>
            <a:r>
              <a:rPr lang="en-US" sz="1200" dirty="0"/>
              <a:t>• official domain</a:t>
            </a:r>
          </a:p>
          <a:p>
            <a:pPr marL="0" indent="0">
              <a:buNone/>
            </a:pPr>
            <a:r>
              <a:rPr lang="en-US" sz="1200" dirty="0"/>
              <a:t>• authentication domain</a:t>
            </a:r>
          </a:p>
          <a:p>
            <a:pPr marL="0" indent="0">
              <a:buNone/>
            </a:pPr>
            <a:r>
              <a:rPr lang="en-US" sz="1200" dirty="0"/>
              <a:t>• identity consistency</a:t>
            </a:r>
          </a:p>
        </p:txBody>
      </p:sp>
      <p:sp>
        <p:nvSpPr>
          <p:cNvPr id="9" name="Shape 7"/>
          <p:cNvSpPr/>
          <p:nvPr/>
        </p:nvSpPr>
        <p:spPr>
          <a:xfrm>
            <a:off x="3197807" y="2225075"/>
            <a:ext cx="2658591" cy="2519119"/>
          </a:xfrm>
          <a:prstGeom prst="roundRect">
            <a:avLst>
              <a:gd name="adj" fmla="val 2807"/>
            </a:avLst>
          </a:prstGeom>
          <a:solidFill>
            <a:srgbClr val="F1EE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143328" y="2225075"/>
            <a:ext cx="54477" cy="2519119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72961" y="2477464"/>
            <a:ext cx="1826872" cy="283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</a:rPr>
              <a:t>Data target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70826" y="2865646"/>
            <a:ext cx="2125647" cy="17873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/>
              <a:t>What type of data is involved?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• credential</a:t>
            </a:r>
          </a:p>
          <a:p>
            <a:pPr marL="0" indent="0">
              <a:buNone/>
            </a:pPr>
            <a:r>
              <a:rPr lang="en-US" sz="1200" dirty="0"/>
              <a:t>• financial</a:t>
            </a:r>
          </a:p>
          <a:p>
            <a:pPr marL="0" indent="0">
              <a:buNone/>
            </a:pPr>
            <a:r>
              <a:rPr lang="en-US" sz="1200" dirty="0"/>
              <a:t>• identity</a:t>
            </a:r>
          </a:p>
          <a:p>
            <a:pPr marL="0" indent="0">
              <a:buNone/>
            </a:pPr>
            <a:r>
              <a:rPr lang="en-US" sz="1200" dirty="0"/>
              <a:t>• personal</a:t>
            </a:r>
          </a:p>
          <a:p>
            <a:pPr marL="0" indent="0">
              <a:buNone/>
            </a:pPr>
            <a:r>
              <a:rPr lang="en-US" sz="1200" dirty="0"/>
              <a:t>• device</a:t>
            </a:r>
          </a:p>
          <a:p>
            <a:pPr marL="0" indent="0">
              <a:buNone/>
            </a:pPr>
            <a:r>
              <a:rPr lang="en-US" sz="1200" dirty="0"/>
              <a:t>• authentication</a:t>
            </a:r>
          </a:p>
        </p:txBody>
      </p:sp>
      <p:sp>
        <p:nvSpPr>
          <p:cNvPr id="14" name="Shape 12"/>
          <p:cNvSpPr/>
          <p:nvPr/>
        </p:nvSpPr>
        <p:spPr>
          <a:xfrm>
            <a:off x="5939466" y="2216315"/>
            <a:ext cx="2606040" cy="2414017"/>
          </a:xfrm>
          <a:prstGeom prst="roundRect">
            <a:avLst>
              <a:gd name="adj" fmla="val 2807"/>
            </a:avLst>
          </a:prstGeom>
          <a:solidFill>
            <a:srgbClr val="FFF4E5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921563" y="2207558"/>
            <a:ext cx="45719" cy="24140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24577" y="2392523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</a:rPr>
              <a:t>Collection behavior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21006" y="2830612"/>
            <a:ext cx="2108130" cy="170852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/>
              <a:t>How is it requested/handled?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• expected</a:t>
            </a:r>
          </a:p>
          <a:p>
            <a:pPr marL="0" indent="0">
              <a:buNone/>
            </a:pPr>
            <a:r>
              <a:rPr lang="en-US" sz="1200" dirty="0"/>
              <a:t>• transparent</a:t>
            </a:r>
          </a:p>
          <a:p>
            <a:pPr marL="0" indent="0">
              <a:buNone/>
            </a:pPr>
            <a:r>
              <a:rPr lang="en-US" sz="1200" dirty="0"/>
              <a:t>• unexpected</a:t>
            </a:r>
          </a:p>
          <a:p>
            <a:pPr marL="0" indent="0">
              <a:buNone/>
            </a:pPr>
            <a:r>
              <a:rPr lang="en-US" sz="1200" dirty="0"/>
              <a:t>• deceptive</a:t>
            </a:r>
          </a:p>
          <a:p>
            <a:pPr marL="0" indent="0">
              <a:buNone/>
            </a:pPr>
            <a:r>
              <a:rPr lang="en-US" sz="1200" dirty="0"/>
              <a:t>• purpose mismatch</a:t>
            </a:r>
          </a:p>
          <a:p>
            <a:pPr marL="0" indent="0">
              <a:buNone/>
            </a:pPr>
            <a:r>
              <a:rPr lang="en-US" sz="1200" dirty="0"/>
              <a:t>• possibly excessive</a:t>
            </a:r>
          </a:p>
        </p:txBody>
      </p:sp>
      <p:sp>
        <p:nvSpPr>
          <p:cNvPr id="19" name="Shape 17"/>
          <p:cNvSpPr/>
          <p:nvPr/>
        </p:nvSpPr>
        <p:spPr>
          <a:xfrm>
            <a:off x="8814816" y="2295142"/>
            <a:ext cx="2606040" cy="2414018"/>
          </a:xfrm>
          <a:prstGeom prst="roundRect">
            <a:avLst>
              <a:gd name="adj" fmla="val 2807"/>
            </a:avLst>
          </a:prstGeom>
          <a:solidFill>
            <a:srgbClr val="FDEDEC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814815" y="2295144"/>
            <a:ext cx="64009" cy="24140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093481" y="2471350"/>
            <a:ext cx="1783080" cy="344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</a:rPr>
              <a:t>Threat assessment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91449" y="2905221"/>
            <a:ext cx="2011786" cy="162094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/>
              <a:t>What does the evidence support?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• benign</a:t>
            </a:r>
          </a:p>
          <a:p>
            <a:pPr marL="0" indent="0">
              <a:buNone/>
            </a:pPr>
            <a:r>
              <a:rPr lang="en-US" sz="1200" dirty="0"/>
              <a:t>• suspicious</a:t>
            </a:r>
          </a:p>
          <a:p>
            <a:pPr marL="0" indent="0">
              <a:buNone/>
            </a:pPr>
            <a:r>
              <a:rPr lang="en-US" sz="1200" dirty="0"/>
              <a:t>• malicious</a:t>
            </a:r>
          </a:p>
          <a:p>
            <a:pPr marL="0" indent="0">
              <a:buNone/>
            </a:pPr>
            <a:r>
              <a:rPr lang="en-US" sz="1200" dirty="0"/>
              <a:t>• insufficient evidence</a:t>
            </a:r>
          </a:p>
        </p:txBody>
      </p:sp>
      <p:sp>
        <p:nvSpPr>
          <p:cNvPr id="24" name="Text 22"/>
          <p:cNvSpPr/>
          <p:nvPr/>
        </p:nvSpPr>
        <p:spPr>
          <a:xfrm>
            <a:off x="1005840" y="5212080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700" b="1">
                <a:solidFill>
                  <a:srgbClr val="17324D"/>
                </a:solidFill>
              </a:rPr>
              <a:t>Key safeguard: “sensitive data requested” is an evidence signal, not a maliciousness verdict.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7324D"/>
                </a:solidFill>
                <a:latin typeface="Aptos Display"/>
              </a:rPr>
              <a:t>Declared behavior vs observed behavior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8320" y="820928"/>
            <a:ext cx="1090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150"/>
              <a:t>The system compares documented service expectations with live browser evidence; appearance alone is not treated as proof.</a:t>
            </a:r>
            <a:endParaRPr lang="en-US" sz="1150"/>
          </a:p>
        </p:txBody>
      </p:sp>
      <p:sp>
        <p:nvSpPr>
          <p:cNvPr id="4" name="Shape 2"/>
          <p:cNvSpPr/>
          <p:nvPr/>
        </p:nvSpPr>
        <p:spPr>
          <a:xfrm>
            <a:off x="604520" y="2700528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17324D"/>
          </a:solidFill>
          <a:ln w="1524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77672" y="2773680"/>
            <a:ext cx="181965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OFFICIAL / PUBLIC SOURCES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51712" y="4185920"/>
            <a:ext cx="1808480" cy="890016"/>
          </a:xfrm>
          <a:prstGeom prst="roundRect">
            <a:avLst>
              <a:gd name="adj" fmla="val 7018"/>
            </a:avLst>
          </a:prstGeom>
          <a:solidFill>
            <a:srgbClr val="EAF2FF"/>
          </a:solidFill>
          <a:ln w="15240">
            <a:solidFill>
              <a:srgbClr val="BFD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04544" y="4259072"/>
            <a:ext cx="1682496" cy="764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B4D"/>
                </a:solidFill>
              </a:rPr>
              <a:t>Privacy policy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B4D"/>
                </a:solidFill>
              </a:rPr>
              <a:t>Feature docs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B4D"/>
                </a:solidFill>
              </a:rPr>
              <a:t>Permissions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0" y="2649728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246BCE"/>
          </a:solidFill>
          <a:ln w="15240">
            <a:solidFill>
              <a:srgbClr val="246B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913632" y="2722880"/>
            <a:ext cx="195681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SERVICE PROFILE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34080" y="4185920"/>
            <a:ext cx="1960880" cy="8900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524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486912" y="4259072"/>
            <a:ext cx="1834896" cy="764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B4D"/>
                </a:solidFill>
              </a:rPr>
              <a:t>Declared data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2B4D"/>
                </a:solidFill>
              </a:rPr>
              <a:t>Declared capability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2B4D"/>
                </a:solidFill>
              </a:rPr>
              <a:t>Declared purpose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2B4D"/>
                </a:solidFill>
              </a:rPr>
              <a:t>Official domains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301240" y="1471168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129A8A"/>
          </a:solidFill>
          <a:ln w="15240">
            <a:solidFill>
              <a:srgbClr val="129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374392" y="1595120"/>
            <a:ext cx="181965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FFFFFF"/>
                </a:solidFill>
              </a:rPr>
              <a:t>LIVE BROWSER OBSERVATION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430272" y="5384800"/>
            <a:ext cx="1808480" cy="863600"/>
          </a:xfrm>
          <a:prstGeom prst="roundRect">
            <a:avLst>
              <a:gd name="adj" fmla="val 7273"/>
            </a:avLst>
          </a:prstGeom>
          <a:solidFill>
            <a:srgbClr val="EAF7F0"/>
          </a:solidFill>
          <a:ln w="15240">
            <a:solidFill>
              <a:srgbClr val="C9E3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483104" y="5457952"/>
            <a:ext cx="1682496" cy="737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B4D"/>
                </a:solidFill>
              </a:rPr>
              <a:t>Forms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2B4D"/>
                </a:solidFill>
              </a:rPr>
              <a:t>Redirects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2B4D"/>
                </a:solidFill>
              </a:rPr>
              <a:t>Permission signals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2B4D"/>
                </a:solidFill>
              </a:rPr>
              <a:t>Data categories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2B4D"/>
                </a:solidFill>
              </a:rPr>
              <a:t>User action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41160" y="3005328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6B4EFF"/>
          </a:solidFill>
          <a:ln w="15240">
            <a:solidFill>
              <a:srgbClr val="6B4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814312" y="3078480"/>
            <a:ext cx="218541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BEHAVIOR COMPARATOR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71488" y="4331208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1EEFF"/>
          </a:solidFill>
          <a:ln w="15240">
            <a:solidFill>
              <a:srgbClr val="D8D1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685280" y="4404360"/>
            <a:ext cx="2596896" cy="1819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B4D"/>
                </a:solidFill>
              </a:rPr>
              <a:t>Expected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B4D"/>
                </a:solidFill>
              </a:rPr>
              <a:t>Unexpected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B4D"/>
                </a:solidFill>
              </a:rPr>
              <a:t>Purpose mismatch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B4D"/>
                </a:solidFill>
              </a:rPr>
              <a:t>Deceptive indicator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B4D"/>
                </a:solidFill>
              </a:rPr>
              <a:t>Identity mismatch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B4D"/>
                </a:solidFill>
              </a:rPr>
              <a:t>Unknown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6688" y="3345688"/>
            <a:ext cx="457200" cy="0"/>
          </a:xfrm>
          <a:prstGeom prst="line">
            <a:avLst/>
          </a:prstGeom>
          <a:noFill/>
          <a:ln w="25400">
            <a:solidFill>
              <a:srgbClr val="6B4E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9697720" y="3015488"/>
            <a:ext cx="2057400" cy="658368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770872" y="3088640"/>
            <a:ext cx="191109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SECURITY DECISION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707880" y="4607560"/>
            <a:ext cx="2423160" cy="1325880"/>
          </a:xfrm>
          <a:prstGeom prst="roundRect">
            <a:avLst>
              <a:gd name="adj" fmla="val 5517"/>
            </a:avLst>
          </a:prstGeom>
          <a:solidFill>
            <a:srgbClr val="FDEDEC"/>
          </a:solidFill>
          <a:ln w="15240">
            <a:solidFill>
              <a:srgbClr val="F1C3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598152" y="4599432"/>
            <a:ext cx="2276856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172B4D"/>
                </a:solidFill>
              </a:rPr>
              <a:t>Evidence + ML + rules</a:t>
            </a:r>
            <a:endParaRPr lang="en-US" sz="1150" dirty="0"/>
          </a:p>
          <a:p>
            <a:r>
              <a:rPr sz="1150" b="1">
                <a:solidFill>
                  <a:srgbClr val="172B4D"/>
                </a:solidFill>
              </a:rPr>
              <a:t>→ threat assessment</a:t>
            </a:r>
          </a:p>
          <a:p>
            <a:r>
              <a:rPr sz="1150" b="1">
                <a:solidFill>
                  <a:srgbClr val="172B4D"/>
                </a:solidFill>
              </a:rPr>
              <a:t>→ policy action</a:t>
            </a:r>
          </a:p>
          <a:p>
            <a:r>
              <a:rPr sz="1150" b="1">
                <a:solidFill>
                  <a:srgbClr val="172B4D"/>
                </a:solidFill>
              </a:rPr>
              <a:t>→ sanitized telemetry</a:t>
            </a:r>
          </a:p>
        </p:txBody>
      </p:sp>
      <p:sp>
        <p:nvSpPr>
          <p:cNvPr id="27" name="Shape 25"/>
          <p:cNvSpPr/>
          <p:nvPr/>
        </p:nvSpPr>
        <p:spPr>
          <a:xfrm>
            <a:off x="9166352" y="3345688"/>
            <a:ext cx="384048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BBDEA78-EB5E-780D-53E6-468C5A26A59A}"/>
              </a:ext>
            </a:extLst>
          </p:cNvPr>
          <p:cNvCxnSpPr/>
          <p:nvPr/>
        </p:nvCxnSpPr>
        <p:spPr>
          <a:xfrm>
            <a:off x="1606406" y="3372555"/>
            <a:ext cx="10746" cy="5440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D0DB521-5092-472C-6390-2765B700B44C}"/>
              </a:ext>
            </a:extLst>
          </p:cNvPr>
          <p:cNvCxnSpPr/>
          <p:nvPr/>
        </p:nvCxnSpPr>
        <p:spPr>
          <a:xfrm>
            <a:off x="4938576" y="3373009"/>
            <a:ext cx="10746" cy="5436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75ACD2F4-F079-2711-FA4C-886550E13A22}"/>
              </a:ext>
            </a:extLst>
          </p:cNvPr>
          <p:cNvSpPr/>
          <p:nvPr/>
        </p:nvSpPr>
        <p:spPr>
          <a:xfrm>
            <a:off x="995352" y="3774829"/>
            <a:ext cx="4673600" cy="2733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ADF7023-B0B4-0A1A-6424-B232E9F39394}"/>
              </a:ext>
            </a:extLst>
          </p:cNvPr>
          <p:cNvCxnSpPr/>
          <p:nvPr/>
        </p:nvCxnSpPr>
        <p:spPr>
          <a:xfrm>
            <a:off x="3276662" y="2151428"/>
            <a:ext cx="10746" cy="9917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6E34C5F2-D59F-DD49-D7FF-351E1C10CD11}"/>
              </a:ext>
            </a:extLst>
          </p:cNvPr>
          <p:cNvSpPr/>
          <p:nvPr/>
        </p:nvSpPr>
        <p:spPr>
          <a:xfrm>
            <a:off x="297202" y="2282091"/>
            <a:ext cx="5890980" cy="43625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69D671B-3327-3208-5C5F-4F3D762AE4A2}"/>
              </a:ext>
            </a:extLst>
          </p:cNvPr>
          <p:cNvCxnSpPr/>
          <p:nvPr/>
        </p:nvCxnSpPr>
        <p:spPr>
          <a:xfrm>
            <a:off x="7946534" y="3725192"/>
            <a:ext cx="10746" cy="4882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12A72FE-7082-1F37-6E95-75EF0E814AC8}"/>
              </a:ext>
            </a:extLst>
          </p:cNvPr>
          <p:cNvCxnSpPr/>
          <p:nvPr/>
        </p:nvCxnSpPr>
        <p:spPr>
          <a:xfrm>
            <a:off x="10699293" y="3768104"/>
            <a:ext cx="10746" cy="7111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6672" y="11988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7324D"/>
                </a:solidFill>
                <a:latin typeface="Aptos Display"/>
              </a:rPr>
              <a:t>Example: one service can produce multiple controlled test scenarios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84480" y="1906016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24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57632" y="1979168"/>
            <a:ext cx="140817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100" b="1">
                <a:solidFill>
                  <a:srgbClr val="17324D"/>
                </a:solidFill>
              </a:rPr>
              <a:t>Baseline — declared capability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12112" y="2143760"/>
            <a:ext cx="402336" cy="0"/>
          </a:xfrm>
          <a:prstGeom prst="line">
            <a:avLst/>
          </a:prstGeom>
          <a:noFill/>
          <a:ln w="19050">
            <a:solidFill>
              <a:srgbClr val="D8E1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558288" y="1906016"/>
            <a:ext cx="5760720" cy="475488"/>
          </a:xfrm>
          <a:prstGeom prst="roundRect">
            <a:avLst>
              <a:gd name="adj" fmla="val 15385"/>
            </a:avLst>
          </a:prstGeom>
          <a:solidFill>
            <a:schemeClr val="bg1">
              <a:lumMod val="95000"/>
            </a:schemeClr>
          </a:solidFill>
          <a:ln w="15240">
            <a:solidFill>
              <a:schemeClr val="bg1">
                <a:lumMod val="95000"/>
              </a:schemeClr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0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2631440" y="1979168"/>
            <a:ext cx="5614416" cy="329184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100"/>
              <a:t>Text chat + prompt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8554720" y="2143760"/>
            <a:ext cx="475488" cy="0"/>
          </a:xfrm>
          <a:prstGeom prst="line">
            <a:avLst/>
          </a:prstGeom>
          <a:noFill/>
          <a:ln w="19050">
            <a:solidFill>
              <a:srgbClr val="D8E1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233408" y="1885696"/>
            <a:ext cx="2057400" cy="475488"/>
          </a:xfrm>
          <a:prstGeom prst="roundRect">
            <a:avLst>
              <a:gd name="adj" fmla="val 15385"/>
            </a:avLst>
          </a:prstGeom>
          <a:solidFill>
            <a:srgbClr val="EAF7F0"/>
          </a:solidFill>
          <a:ln w="1524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306560" y="1958848"/>
            <a:ext cx="191109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B57"/>
                </a:solidFill>
              </a:rPr>
              <a:t>EXPECTED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4480" y="2619248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24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57632" y="2692400"/>
            <a:ext cx="140817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100" b="1">
                <a:solidFill>
                  <a:srgbClr val="17324D"/>
                </a:solidFill>
              </a:rPr>
              <a:t>Declared voice feature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12112" y="2856992"/>
            <a:ext cx="402336" cy="0"/>
          </a:xfrm>
          <a:prstGeom prst="line">
            <a:avLst/>
          </a:prstGeom>
          <a:noFill/>
          <a:ln w="19050">
            <a:solidFill>
              <a:srgbClr val="D8E1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558288" y="2619248"/>
            <a:ext cx="5760720" cy="475488"/>
          </a:xfrm>
          <a:prstGeom prst="roundRect">
            <a:avLst>
              <a:gd name="adj" fmla="val 15385"/>
            </a:avLst>
          </a:prstGeom>
          <a:solidFill>
            <a:schemeClr val="bg1">
              <a:lumMod val="95000"/>
            </a:schemeClr>
          </a:solidFill>
          <a:ln w="15240">
            <a:solidFill>
              <a:schemeClr val="bg1">
                <a:lumMod val="95000"/>
              </a:schemeClr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000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2631440" y="2692400"/>
            <a:ext cx="5614416" cy="329184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200"/>
              <a:t>User invokes voice → microphone request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8554720" y="2856992"/>
            <a:ext cx="475488" cy="0"/>
          </a:xfrm>
          <a:prstGeom prst="line">
            <a:avLst/>
          </a:prstGeom>
          <a:noFill/>
          <a:ln w="19050">
            <a:solidFill>
              <a:srgbClr val="D8E1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9233408" y="2598928"/>
            <a:ext cx="2057400" cy="475488"/>
          </a:xfrm>
          <a:prstGeom prst="roundRect">
            <a:avLst>
              <a:gd name="adj" fmla="val 15385"/>
            </a:avLst>
          </a:prstGeom>
          <a:solidFill>
            <a:srgbClr val="EAF7F0"/>
          </a:solidFill>
          <a:ln w="1524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306560" y="2672080"/>
            <a:ext cx="191109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B57"/>
                </a:solidFill>
              </a:rPr>
              <a:t>EXPECTED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4480" y="3332480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24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57632" y="3405632"/>
            <a:ext cx="140817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100" b="1">
                <a:solidFill>
                  <a:srgbClr val="17324D"/>
                </a:solidFill>
              </a:rPr>
              <a:t>Unexpected permission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912112" y="3570224"/>
            <a:ext cx="402336" cy="0"/>
          </a:xfrm>
          <a:prstGeom prst="line">
            <a:avLst/>
          </a:prstGeom>
          <a:noFill/>
          <a:ln w="19050">
            <a:solidFill>
              <a:srgbClr val="D8E1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558288" y="3332480"/>
            <a:ext cx="5760720" cy="475488"/>
          </a:xfrm>
          <a:prstGeom prst="roundRect">
            <a:avLst>
              <a:gd name="adj" fmla="val 15385"/>
            </a:avLst>
          </a:prstGeom>
          <a:solidFill>
            <a:schemeClr val="bg1">
              <a:lumMod val="95000"/>
            </a:schemeClr>
          </a:solidFill>
          <a:ln w="15240">
            <a:solidFill>
              <a:schemeClr val="bg1">
                <a:lumMod val="95000"/>
              </a:schemeClr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0000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2631440" y="3405632"/>
            <a:ext cx="5614416" cy="329184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200"/>
              <a:t>Ordinary text workflow → microphone request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8554720" y="3570224"/>
            <a:ext cx="475488" cy="0"/>
          </a:xfrm>
          <a:prstGeom prst="line">
            <a:avLst/>
          </a:prstGeom>
          <a:noFill/>
          <a:ln w="19050">
            <a:solidFill>
              <a:srgbClr val="D8E1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>
              <a:solidFill>
                <a:srgbClr val="000000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233408" y="3312160"/>
            <a:ext cx="2057400" cy="475488"/>
          </a:xfrm>
          <a:prstGeom prst="roundRect">
            <a:avLst>
              <a:gd name="adj" fmla="val 15385"/>
            </a:avLst>
          </a:prstGeom>
          <a:solidFill>
            <a:srgbClr val="FFF4E5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306560" y="3385312"/>
            <a:ext cx="191109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SUSPICIOUS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84480" y="4045712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24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57632" y="4118864"/>
            <a:ext cx="140817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100" b="1">
                <a:solidFill>
                  <a:srgbClr val="17324D"/>
                </a:solidFill>
              </a:rPr>
              <a:t>Purpose mismatch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912112" y="4283456"/>
            <a:ext cx="402336" cy="0"/>
          </a:xfrm>
          <a:prstGeom prst="line">
            <a:avLst/>
          </a:prstGeom>
          <a:noFill/>
          <a:ln w="19050">
            <a:solidFill>
              <a:srgbClr val="D8E1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558288" y="4045712"/>
            <a:ext cx="5760720" cy="475488"/>
          </a:xfrm>
          <a:prstGeom prst="roundRect">
            <a:avLst>
              <a:gd name="adj" fmla="val 15385"/>
            </a:avLst>
          </a:prstGeom>
          <a:solidFill>
            <a:schemeClr val="bg1">
              <a:lumMod val="95000"/>
            </a:schemeClr>
          </a:solidFill>
          <a:ln w="15240">
            <a:solidFill>
              <a:schemeClr val="bg1">
                <a:lumMod val="95000"/>
              </a:schemeClr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0000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2631440" y="4118864"/>
            <a:ext cx="5614416" cy="329184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200"/>
              <a:t>Sensitive request unrelated to declared function</a:t>
            </a:r>
            <a:endParaRPr lang="en-US" sz="1200"/>
          </a:p>
        </p:txBody>
      </p:sp>
      <p:sp>
        <p:nvSpPr>
          <p:cNvPr id="33" name="Shape 31"/>
          <p:cNvSpPr/>
          <p:nvPr/>
        </p:nvSpPr>
        <p:spPr>
          <a:xfrm>
            <a:off x="8554720" y="4283456"/>
            <a:ext cx="475488" cy="0"/>
          </a:xfrm>
          <a:prstGeom prst="line">
            <a:avLst/>
          </a:prstGeom>
          <a:noFill/>
          <a:ln w="19050">
            <a:solidFill>
              <a:srgbClr val="D8E1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9233408" y="4025392"/>
            <a:ext cx="2057400" cy="475488"/>
          </a:xfrm>
          <a:prstGeom prst="roundRect">
            <a:avLst>
              <a:gd name="adj" fmla="val 15385"/>
            </a:avLst>
          </a:prstGeom>
          <a:solidFill>
            <a:srgbClr val="FFF4E5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9306560" y="4098544"/>
            <a:ext cx="191109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SUSPICIOUS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84480" y="4758944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24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57632" y="4832096"/>
            <a:ext cx="140817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100" b="1">
                <a:solidFill>
                  <a:srgbClr val="17324D"/>
                </a:solidFill>
              </a:rPr>
              <a:t>Synthetic deception test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912112" y="4996688"/>
            <a:ext cx="402336" cy="0"/>
          </a:xfrm>
          <a:prstGeom prst="line">
            <a:avLst/>
          </a:prstGeom>
          <a:noFill/>
          <a:ln w="19050">
            <a:solidFill>
              <a:srgbClr val="D8E1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2558288" y="4758944"/>
            <a:ext cx="5760720" cy="475488"/>
          </a:xfrm>
          <a:prstGeom prst="roundRect">
            <a:avLst>
              <a:gd name="adj" fmla="val 15385"/>
            </a:avLst>
          </a:prstGeom>
          <a:solidFill>
            <a:schemeClr val="bg1">
              <a:lumMod val="95000"/>
            </a:schemeClr>
          </a:solidFill>
          <a:ln w="15240">
            <a:solidFill>
              <a:schemeClr val="bg1">
                <a:lumMod val="95000"/>
              </a:schemeClr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0000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2631440" y="4832096"/>
            <a:ext cx="5614416" cy="329184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200"/>
              <a:t>Synthetic page imitates service + hidden sensitive-data request</a:t>
            </a:r>
            <a:endParaRPr lang="en-US" sz="1200"/>
          </a:p>
        </p:txBody>
      </p:sp>
      <p:sp>
        <p:nvSpPr>
          <p:cNvPr id="41" name="Shape 39"/>
          <p:cNvSpPr/>
          <p:nvPr/>
        </p:nvSpPr>
        <p:spPr>
          <a:xfrm>
            <a:off x="8554720" y="4996688"/>
            <a:ext cx="475488" cy="0"/>
          </a:xfrm>
          <a:prstGeom prst="line">
            <a:avLst/>
          </a:prstGeom>
          <a:noFill/>
          <a:ln w="19050">
            <a:solidFill>
              <a:srgbClr val="D8E1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9233408" y="4738624"/>
            <a:ext cx="2057400" cy="475488"/>
          </a:xfrm>
          <a:prstGeom prst="roundRect">
            <a:avLst>
              <a:gd name="adj" fmla="val 15385"/>
            </a:avLst>
          </a:prstGeom>
          <a:solidFill>
            <a:srgbClr val="FDEDEC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9306560" y="4811776"/>
            <a:ext cx="191109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</a:rPr>
              <a:t>MALICIOUS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84480" y="5472176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24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57632" y="5545328"/>
            <a:ext cx="140817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100" b="1">
                <a:solidFill>
                  <a:srgbClr val="17324D"/>
                </a:solidFill>
              </a:rPr>
              <a:t>Impersonation test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912112" y="5709920"/>
            <a:ext cx="402336" cy="0"/>
          </a:xfrm>
          <a:prstGeom prst="line">
            <a:avLst/>
          </a:prstGeom>
          <a:noFill/>
          <a:ln w="19050">
            <a:solidFill>
              <a:srgbClr val="D8E1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2558288" y="5472176"/>
            <a:ext cx="5760720" cy="475488"/>
          </a:xfrm>
          <a:prstGeom prst="roundRect">
            <a:avLst>
              <a:gd name="adj" fmla="val 15385"/>
            </a:avLst>
          </a:prstGeom>
          <a:solidFill>
            <a:schemeClr val="bg1">
              <a:lumMod val="95000"/>
            </a:schemeClr>
          </a:solidFill>
          <a:ln w="15240">
            <a:solidFill>
              <a:schemeClr val="bg1">
                <a:lumMod val="95000"/>
              </a:schemeClr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0000"/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2631440" y="5545328"/>
            <a:ext cx="5614416" cy="329184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200"/>
              <a:t>Fake identity + credential-collection behavior</a:t>
            </a:r>
          </a:p>
        </p:txBody>
      </p:sp>
      <p:sp>
        <p:nvSpPr>
          <p:cNvPr id="49" name="Shape 47"/>
          <p:cNvSpPr/>
          <p:nvPr/>
        </p:nvSpPr>
        <p:spPr>
          <a:xfrm>
            <a:off x="8554720" y="5709920"/>
            <a:ext cx="475488" cy="0"/>
          </a:xfrm>
          <a:prstGeom prst="line">
            <a:avLst/>
          </a:prstGeom>
          <a:noFill/>
          <a:ln w="19050">
            <a:solidFill>
              <a:srgbClr val="D8E1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9233408" y="5451856"/>
            <a:ext cx="2057400" cy="475488"/>
          </a:xfrm>
          <a:prstGeom prst="roundRect">
            <a:avLst>
              <a:gd name="adj" fmla="val 15385"/>
            </a:avLst>
          </a:prstGeom>
          <a:solidFill>
            <a:srgbClr val="FDEDEC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9306560" y="5525008"/>
            <a:ext cx="191109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</a:rPr>
              <a:t>MALICIOUS</a:t>
            </a:r>
            <a:endParaRPr lang="en-US" sz="1100" dirty="0"/>
          </a:p>
        </p:txBody>
      </p:sp>
      <p:sp>
        <p:nvSpPr>
          <p:cNvPr id="3" name="Callout: Bent Line 2">
            <a:extLst>
              <a:ext uri="{FF2B5EF4-FFF2-40B4-BE49-F238E27FC236}">
                <a16:creationId xmlns:a16="http://schemas.microsoft.com/office/drawing/2014/main" id="{915A7C14-1D72-A6B4-867F-438C6C03C702}"/>
              </a:ext>
            </a:extLst>
          </p:cNvPr>
          <p:cNvSpPr/>
          <p:nvPr/>
        </p:nvSpPr>
        <p:spPr>
          <a:xfrm>
            <a:off x="4630775" y="854893"/>
            <a:ext cx="2332473" cy="743006"/>
          </a:xfrm>
          <a:prstGeom prst="borderCallout2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>
                <a:latin typeface="Aptos Display"/>
              </a:rPr>
              <a:t>DATA TARGET</a:t>
            </a:r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71EBB6B-8A55-CFF3-99E9-7F3B30B2A001}"/>
              </a:ext>
            </a:extLst>
          </p:cNvPr>
          <p:cNvSpPr/>
          <p:nvPr/>
        </p:nvSpPr>
        <p:spPr>
          <a:xfrm>
            <a:off x="65503" y="1716930"/>
            <a:ext cx="1768511" cy="43911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3A48122-1E48-C137-4DF2-3D8538BA17FF}"/>
              </a:ext>
            </a:extLst>
          </p:cNvPr>
          <p:cNvSpPr/>
          <p:nvPr/>
        </p:nvSpPr>
        <p:spPr>
          <a:xfrm>
            <a:off x="2439035" y="1699500"/>
            <a:ext cx="5994400" cy="45618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5193CC5-A805-D0E7-1AEA-2EA9AB4C92E5}"/>
              </a:ext>
            </a:extLst>
          </p:cNvPr>
          <p:cNvSpPr/>
          <p:nvPr/>
        </p:nvSpPr>
        <p:spPr>
          <a:xfrm>
            <a:off x="9096067" y="1697973"/>
            <a:ext cx="2325003" cy="44064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allout: Line 56">
            <a:extLst>
              <a:ext uri="{FF2B5EF4-FFF2-40B4-BE49-F238E27FC236}">
                <a16:creationId xmlns:a16="http://schemas.microsoft.com/office/drawing/2014/main" id="{8D046483-C449-5C10-7486-159ED405A31C}"/>
              </a:ext>
            </a:extLst>
          </p:cNvPr>
          <p:cNvSpPr/>
          <p:nvPr/>
        </p:nvSpPr>
        <p:spPr>
          <a:xfrm>
            <a:off x="9867119" y="856420"/>
            <a:ext cx="1926200" cy="742261"/>
          </a:xfrm>
          <a:prstGeom prst="borderCallout1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/>
              <a:t>CLASSIFICATION</a:t>
            </a:r>
            <a:endParaRPr lang="en-US"/>
          </a:p>
        </p:txBody>
      </p:sp>
      <p:sp>
        <p:nvSpPr>
          <p:cNvPr id="59" name="Callout: Bent Line 58">
            <a:extLst>
              <a:ext uri="{FF2B5EF4-FFF2-40B4-BE49-F238E27FC236}">
                <a16:creationId xmlns:a16="http://schemas.microsoft.com/office/drawing/2014/main" id="{79E7632D-5391-0057-1934-196CEDF9F2FD}"/>
              </a:ext>
            </a:extLst>
          </p:cNvPr>
          <p:cNvSpPr/>
          <p:nvPr/>
        </p:nvSpPr>
        <p:spPr>
          <a:xfrm>
            <a:off x="946988" y="875213"/>
            <a:ext cx="1775618" cy="734373"/>
          </a:xfrm>
          <a:prstGeom prst="borderCallout2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/>
              <a:t>USER ACTION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7792" y="15036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7324D"/>
                </a:solidFill>
                <a:latin typeface="Aptos Display"/>
              </a:rPr>
              <a:t>Machine-learning strategy: local inference + evidence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150"/>
              <a:t>The selected model learns patterns from deterministic browser-derived features; evidence, context and rules remain part of the final assessment.</a:t>
            </a:r>
            <a:endParaRPr lang="en-US" sz="1150"/>
          </a:p>
        </p:txBody>
      </p:sp>
      <p:sp>
        <p:nvSpPr>
          <p:cNvPr id="4" name="Shape 2"/>
          <p:cNvSpPr/>
          <p:nvPr/>
        </p:nvSpPr>
        <p:spPr>
          <a:xfrm>
            <a:off x="767080" y="133604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246BCE"/>
          </a:solidFill>
          <a:ln w="15240">
            <a:solidFill>
              <a:srgbClr val="246B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0232" y="1409192"/>
            <a:ext cx="154533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URL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9920" y="195783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00"/>
              <a:t>• Length • entropy </a:t>
            </a:r>
            <a:endParaRPr lang="en-US"/>
          </a:p>
          <a:p>
            <a:pPr algn="ctr"/>
            <a:r>
              <a:rPr lang="en-US" sz="1200"/>
              <a:t>• host </a:t>
            </a:r>
            <a:r>
              <a:rPr lang="en-US" sz="1200" dirty="0"/>
              <a:t>structure</a:t>
            </a:r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007360" y="133604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0EA5C8"/>
          </a:solidFill>
          <a:ln w="15240">
            <a:solidFill>
              <a:srgbClr val="0EA5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080512" y="1409192"/>
            <a:ext cx="154533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Page / Identity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70200" y="195783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00"/>
              <a:t>• Brand similarity </a:t>
            </a:r>
            <a:endParaRPr lang="en-US"/>
          </a:p>
          <a:p>
            <a:pPr marL="0" indent="0" algn="ctr">
              <a:buNone/>
            </a:pPr>
            <a:r>
              <a:rPr lang="en-US" sz="1200"/>
              <a:t>• identity </a:t>
            </a:r>
            <a:r>
              <a:rPr lang="en-US" sz="1200" dirty="0"/>
              <a:t>mismatch</a:t>
            </a:r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247640" y="133604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29A8A"/>
          </a:solidFill>
          <a:ln w="15240">
            <a:solidFill>
              <a:srgbClr val="129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320792" y="1409192"/>
            <a:ext cx="154533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Data Request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10480" y="195783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00"/>
              <a:t>• DOM • forms • inputs </a:t>
            </a:r>
            <a:endParaRPr lang="en-US"/>
          </a:p>
          <a:p>
            <a:pPr marL="0" indent="0" algn="ctr">
              <a:buNone/>
            </a:pPr>
            <a:r>
              <a:rPr lang="en-US" sz="1200"/>
              <a:t>• </a:t>
            </a:r>
            <a:r>
              <a:rPr lang="en-US" sz="1200" dirty="0"/>
              <a:t>scripts</a:t>
            </a:r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02960" y="2934208"/>
            <a:ext cx="0" cy="36576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487920" y="133604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6B4EFF"/>
          </a:solidFill>
          <a:ln w="15240">
            <a:solidFill>
              <a:srgbClr val="6B4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561072" y="1409192"/>
            <a:ext cx="154533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Behavior / Destination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50760" y="195783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sz="1200"/>
              <a:t>• redirects • form destination</a:t>
            </a:r>
            <a:endParaRPr lang="en-US"/>
          </a:p>
          <a:p>
            <a:r>
              <a:rPr sz="1200"/>
              <a:t>• cross-origin relationships</a:t>
            </a:r>
          </a:p>
        </p:txBody>
      </p:sp>
      <p:sp>
        <p:nvSpPr>
          <p:cNvPr id="20" name="Shape 18"/>
          <p:cNvSpPr/>
          <p:nvPr/>
        </p:nvSpPr>
        <p:spPr>
          <a:xfrm>
            <a:off x="9728200" y="133604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D97706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801352" y="1409192"/>
            <a:ext cx="154533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Context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91040" y="195783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00"/>
              <a:t>• Service type • purpose</a:t>
            </a:r>
            <a:endParaRPr lang="en-US"/>
          </a:p>
          <a:p>
            <a:pPr algn="ctr"/>
            <a:r>
              <a:rPr lang="en-US" sz="1200"/>
              <a:t> • </a:t>
            </a:r>
            <a:r>
              <a:rPr lang="en-US" sz="1200" dirty="0"/>
              <a:t>action</a:t>
            </a:r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16272" y="3381248"/>
            <a:ext cx="2423160" cy="566928"/>
          </a:xfrm>
          <a:prstGeom prst="roundRect">
            <a:avLst>
              <a:gd name="adj" fmla="val 12903"/>
            </a:avLst>
          </a:prstGeom>
          <a:solidFill>
            <a:srgbClr val="17324D"/>
          </a:solidFill>
          <a:ln w="1524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89424" y="3454400"/>
            <a:ext cx="227685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FEATURE VECTOR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04992" y="4047744"/>
            <a:ext cx="0" cy="420624"/>
          </a:xfrm>
          <a:prstGeom prst="line">
            <a:avLst/>
          </a:prstGeom>
          <a:noFill/>
          <a:ln w="25400">
            <a:solidFill>
              <a:srgbClr val="246B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919728" y="4548632"/>
            <a:ext cx="3977640" cy="841248"/>
          </a:xfrm>
          <a:prstGeom prst="roundRect">
            <a:avLst>
              <a:gd name="adj" fmla="val 8696"/>
            </a:avLst>
          </a:prstGeom>
          <a:solidFill>
            <a:srgbClr val="F1EEFF"/>
          </a:solidFill>
          <a:ln w="15240">
            <a:solidFill>
              <a:srgbClr val="D7D0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992880" y="4621784"/>
            <a:ext cx="383133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sz="1200">
                <a:solidFill>
                  <a:srgbClr val="000000"/>
                </a:solidFill>
              </a:rPr>
              <a:t>BASELINE CANDIDATES</a:t>
            </a:r>
            <a:endParaRPr lang="en-US" sz="1200"/>
          </a:p>
          <a:p>
            <a:r>
              <a:rPr sz="1200">
                <a:solidFill>
                  <a:srgbClr val="000000"/>
                </a:solidFill>
              </a:rPr>
              <a:t>Logistic Regression • Random Forest • Gradient Boosting</a:t>
            </a:r>
          </a:p>
        </p:txBody>
      </p:sp>
      <p:sp>
        <p:nvSpPr>
          <p:cNvPr id="29" name="Shape 27"/>
          <p:cNvSpPr/>
          <p:nvPr/>
        </p:nvSpPr>
        <p:spPr>
          <a:xfrm>
            <a:off x="8067040" y="4968240"/>
            <a:ext cx="402336" cy="0"/>
          </a:xfrm>
          <a:prstGeom prst="line">
            <a:avLst/>
          </a:prstGeom>
          <a:noFill/>
          <a:ln w="25400">
            <a:solidFill>
              <a:srgbClr val="6B4E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550656" y="4556760"/>
            <a:ext cx="2514600" cy="804672"/>
          </a:xfrm>
          <a:prstGeom prst="roundRect">
            <a:avLst>
              <a:gd name="adj" fmla="val 9091"/>
            </a:avLst>
          </a:prstGeom>
          <a:solidFill>
            <a:srgbClr val="EAF7F0"/>
          </a:solidFill>
          <a:ln w="15240">
            <a:solidFill>
              <a:srgbClr val="CBE5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623808" y="4629912"/>
            <a:ext cx="236829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2E8B57"/>
                </a:solidFill>
              </a:rPr>
              <a:t>SELECT + VALIDATE</a:t>
            </a:r>
            <a:endParaRPr lang="en-US" sz="1250" dirty="0"/>
          </a:p>
          <a:p>
            <a:r>
              <a:rPr sz="1250" b="1">
                <a:solidFill>
                  <a:srgbClr val="2E8B57"/>
                </a:solidFill>
              </a:rPr>
              <a:t>Predefined criteria</a:t>
            </a:r>
          </a:p>
        </p:txBody>
      </p:sp>
      <p:sp>
        <p:nvSpPr>
          <p:cNvPr id="32" name="Shape 30"/>
          <p:cNvSpPr/>
          <p:nvPr/>
        </p:nvSpPr>
        <p:spPr>
          <a:xfrm>
            <a:off x="9802368" y="5532120"/>
            <a:ext cx="0" cy="338328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550656" y="5961888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EAF2FF"/>
          </a:solidFill>
          <a:ln w="15240">
            <a:solidFill>
              <a:srgbClr val="C9DB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623808" y="6035040"/>
            <a:ext cx="236829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17324D"/>
                </a:solidFill>
              </a:rPr>
              <a:t>ONNX</a:t>
            </a:r>
            <a:endParaRPr lang="en-US" sz="1200" dirty="0"/>
          </a:p>
          <a:p>
            <a:r>
              <a:rPr sz="1200" b="1">
                <a:solidFill>
                  <a:srgbClr val="17324D"/>
                </a:solidFill>
              </a:rPr>
              <a:t>Local browser inference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F1CD532-4CD0-F7DB-A6FA-F652E8BC5588}"/>
              </a:ext>
            </a:extLst>
          </p:cNvPr>
          <p:cNvSpPr/>
          <p:nvPr/>
        </p:nvSpPr>
        <p:spPr>
          <a:xfrm>
            <a:off x="222901" y="1167581"/>
            <a:ext cx="11755120" cy="16560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7324D"/>
                </a:solidFill>
                <a:latin typeface="Aptos Display"/>
              </a:rPr>
              <a:t>Evidence is the bridge between observation and explanation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50976" y="146304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246BCE"/>
          </a:solidFill>
          <a:ln w="15240">
            <a:solidFill>
              <a:srgbClr val="246B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24128" y="1536192"/>
            <a:ext cx="140817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OBSERVED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68096" y="2286000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EAF2FF"/>
          </a:solidFill>
          <a:ln w="15240">
            <a:solidFill>
              <a:srgbClr val="BFD4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41248" y="2359152"/>
            <a:ext cx="1773936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172B4D"/>
                </a:solidFill>
              </a:rPr>
              <a:t>Password field detected</a:t>
            </a:r>
            <a:endParaRPr lang="en-US" sz="1200"/>
          </a:p>
          <a:p>
            <a:r>
              <a:rPr sz="1200" b="1">
                <a:solidFill>
                  <a:srgbClr val="172B4D"/>
                </a:solidFill>
              </a:rPr>
              <a:t>Form submits to a different origin</a:t>
            </a:r>
          </a:p>
        </p:txBody>
      </p:sp>
      <p:sp>
        <p:nvSpPr>
          <p:cNvPr id="8" name="Shape 6"/>
          <p:cNvSpPr/>
          <p:nvPr/>
        </p:nvSpPr>
        <p:spPr>
          <a:xfrm>
            <a:off x="2798064" y="2816352"/>
            <a:ext cx="758952" cy="0"/>
          </a:xfrm>
          <a:prstGeom prst="line">
            <a:avLst/>
          </a:prstGeom>
          <a:noFill/>
          <a:ln w="25400">
            <a:solidFill>
              <a:srgbClr val="246B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557016" y="146304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6B4EFF"/>
          </a:solidFill>
          <a:ln w="15240">
            <a:solidFill>
              <a:srgbClr val="6B4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30168" y="1536192"/>
            <a:ext cx="140817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EVIDENCE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74136" y="2286000"/>
            <a:ext cx="1965960" cy="1508760"/>
          </a:xfrm>
          <a:prstGeom prst="roundRect">
            <a:avLst>
              <a:gd name="adj" fmla="val 4848"/>
            </a:avLst>
          </a:prstGeom>
          <a:solidFill>
            <a:srgbClr val="F1EEFF"/>
          </a:solidFill>
          <a:ln w="15240">
            <a:solidFill>
              <a:srgbClr val="D7D0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447288" y="2359152"/>
            <a:ext cx="1819656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172B4D"/>
                </a:solidFill>
              </a:rPr>
              <a:t>evidence_id</a:t>
            </a:r>
            <a:endParaRPr lang="en-US" sz="1200" err="1"/>
          </a:p>
          <a:p>
            <a:r>
              <a:rPr sz="1200" b="1">
                <a:solidFill>
                  <a:srgbClr val="172B4D"/>
                </a:solidFill>
              </a:rPr>
              <a:t>source</a:t>
            </a:r>
          </a:p>
          <a:p>
            <a:r>
              <a:rPr sz="1200" b="1">
                <a:solidFill>
                  <a:srgbClr val="172B4D"/>
                </a:solidFill>
              </a:rPr>
              <a:t>status</a:t>
            </a:r>
          </a:p>
          <a:p>
            <a:r>
              <a:rPr sz="1200" b="1">
                <a:solidFill>
                  <a:srgbClr val="172B4D"/>
                </a:solidFill>
              </a:rPr>
              <a:t>confidence</a:t>
            </a:r>
          </a:p>
          <a:p>
            <a:r>
              <a:rPr sz="1200" b="1">
                <a:solidFill>
                  <a:srgbClr val="172B4D"/>
                </a:solidFill>
              </a:rPr>
              <a:t>artifact / timestamp</a:t>
            </a:r>
          </a:p>
        </p:txBody>
      </p:sp>
      <p:sp>
        <p:nvSpPr>
          <p:cNvPr id="13" name="Shape 11"/>
          <p:cNvSpPr/>
          <p:nvPr/>
        </p:nvSpPr>
        <p:spPr>
          <a:xfrm>
            <a:off x="5522976" y="2962656"/>
            <a:ext cx="713232" cy="0"/>
          </a:xfrm>
          <a:prstGeom prst="line">
            <a:avLst/>
          </a:prstGeom>
          <a:noFill/>
          <a:ln w="25400">
            <a:solidFill>
              <a:srgbClr val="6B4E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236208" y="146304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129A8A"/>
          </a:solidFill>
          <a:ln w="15240">
            <a:solidFill>
              <a:srgbClr val="129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309360" y="1536192"/>
            <a:ext cx="159105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CORRELATE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71616" y="2286000"/>
            <a:ext cx="2057400" cy="1508760"/>
          </a:xfrm>
          <a:prstGeom prst="roundRect">
            <a:avLst>
              <a:gd name="adj" fmla="val 4848"/>
            </a:avLst>
          </a:prstGeom>
          <a:solidFill>
            <a:srgbClr val="EAF7F0"/>
          </a:solidFill>
          <a:ln w="15240">
            <a:solidFill>
              <a:srgbClr val="C9E3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44768" y="2359152"/>
            <a:ext cx="1911096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172B4D"/>
                </a:solidFill>
              </a:rPr>
              <a:t>supports</a:t>
            </a:r>
            <a:endParaRPr lang="en-US" sz="1200"/>
          </a:p>
          <a:p>
            <a:r>
              <a:rPr sz="1200" b="1">
                <a:solidFill>
                  <a:srgbClr val="172B4D"/>
                </a:solidFill>
              </a:rPr>
              <a:t>contradicts</a:t>
            </a:r>
          </a:p>
          <a:p>
            <a:r>
              <a:rPr sz="1200" b="1">
                <a:solidFill>
                  <a:srgbClr val="172B4D"/>
                </a:solidFill>
              </a:rPr>
              <a:t>derived_from</a:t>
            </a:r>
          </a:p>
          <a:p>
            <a:r>
              <a:rPr sz="1200" b="1">
                <a:solidFill>
                  <a:srgbClr val="172B4D"/>
                </a:solidFill>
              </a:rPr>
              <a:t>correlated_with</a:t>
            </a:r>
          </a:p>
          <a:p>
            <a:r>
              <a:rPr sz="1200" b="1">
                <a:solidFill>
                  <a:srgbClr val="172B4D"/>
                </a:solidFill>
              </a:rPr>
              <a:t>context</a:t>
            </a:r>
          </a:p>
        </p:txBody>
      </p:sp>
      <p:sp>
        <p:nvSpPr>
          <p:cNvPr id="18" name="Shape 16"/>
          <p:cNvSpPr/>
          <p:nvPr/>
        </p:nvSpPr>
        <p:spPr>
          <a:xfrm>
            <a:off x="8339328" y="2962656"/>
            <a:ext cx="713232" cy="0"/>
          </a:xfrm>
          <a:prstGeom prst="line">
            <a:avLst/>
          </a:prstGeom>
          <a:noFill/>
          <a:ln w="25400">
            <a:solidFill>
              <a:srgbClr val="129A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9052560" y="146304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C0392B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125712" y="1536192"/>
            <a:ext cx="140817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DECISION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869680" y="228600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FDEDEC"/>
          </a:solidFill>
          <a:ln w="15240">
            <a:solidFill>
              <a:srgbClr val="F1C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942832" y="2359152"/>
            <a:ext cx="1773936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172B4D"/>
                </a:solidFill>
              </a:rPr>
              <a:t>Threat type</a:t>
            </a:r>
            <a:endParaRPr lang="en-US" sz="1200"/>
          </a:p>
          <a:p>
            <a:r>
              <a:rPr sz="1200" b="1">
                <a:solidFill>
                  <a:srgbClr val="172B4D"/>
                </a:solidFill>
              </a:rPr>
              <a:t>confidence</a:t>
            </a:r>
          </a:p>
          <a:p>
            <a:r>
              <a:rPr sz="1200" b="1">
                <a:solidFill>
                  <a:srgbClr val="172B4D"/>
                </a:solidFill>
              </a:rPr>
              <a:t>reason code</a:t>
            </a:r>
          </a:p>
          <a:p>
            <a:r>
              <a:rPr sz="1200" b="1">
                <a:solidFill>
                  <a:srgbClr val="172B4D"/>
                </a:solidFill>
              </a:rPr>
              <a:t>action</a:t>
            </a:r>
          </a:p>
          <a:p>
            <a:r>
              <a:rPr sz="1200" b="1">
                <a:solidFill>
                  <a:srgbClr val="172B4D"/>
                </a:solidFill>
              </a:rPr>
              <a:t>privacy status</a:t>
            </a:r>
          </a:p>
        </p:txBody>
      </p:sp>
      <p:sp>
        <p:nvSpPr>
          <p:cNvPr id="23" name="Text 21"/>
          <p:cNvSpPr/>
          <p:nvPr/>
        </p:nvSpPr>
        <p:spPr>
          <a:xfrm>
            <a:off x="658368" y="44348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Privacy rule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103120" y="4370832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172B4D"/>
                </a:solidFill>
              </a:rPr>
              <a:t>Evidence records the existence/type of a sensitive field and the surrounding behavior; it does not store the secret value. This boundary is testable.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55040" y="5433199"/>
            <a:ext cx="1188720" cy="274320"/>
          </a:xfrm>
          <a:prstGeom prst="rect">
            <a:avLst/>
          </a:prstGeom>
          <a:solidFill>
            <a:srgbClr val="EAF2FF"/>
          </a:solidFill>
          <a:ln>
            <a:solidFill>
              <a:srgbClr val="246BCE">
                <a:alpha val="6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6BCE"/>
                </a:solidFill>
              </a:rPr>
              <a:t>OBSERVED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2854960" y="5433199"/>
            <a:ext cx="1188720" cy="274320"/>
          </a:xfrm>
          <a:prstGeom prst="rect">
            <a:avLst/>
          </a:prstGeom>
          <a:solidFill>
            <a:srgbClr val="EAF7F0"/>
          </a:solidFill>
          <a:ln>
            <a:solidFill>
              <a:srgbClr val="2E8B57">
                <a:alpha val="6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B57"/>
                </a:solidFill>
              </a:rPr>
              <a:t>VERIFIED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4673600" y="5433199"/>
            <a:ext cx="1188720" cy="274320"/>
          </a:xfrm>
          <a:prstGeom prst="rect">
            <a:avLst/>
          </a:prstGeom>
          <a:solidFill>
            <a:srgbClr val="F1EEFF"/>
          </a:solidFill>
          <a:ln>
            <a:solidFill>
              <a:srgbClr val="6B4EFF">
                <a:alpha val="6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4EFF"/>
                </a:solidFill>
              </a:rPr>
              <a:t>INFERRED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6492240" y="5433199"/>
            <a:ext cx="1188720" cy="274320"/>
          </a:xfrm>
          <a:prstGeom prst="rect">
            <a:avLst/>
          </a:prstGeom>
          <a:solidFill>
            <a:srgbClr val="FFF4E5"/>
          </a:solidFill>
          <a:ln>
            <a:solidFill>
              <a:srgbClr val="D97706">
                <a:alpha val="6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</a:rPr>
              <a:t>UNKNOWN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41360" y="5433199"/>
            <a:ext cx="1554480" cy="274320"/>
          </a:xfrm>
          <a:prstGeom prst="rect">
            <a:avLst/>
          </a:prstGeom>
          <a:solidFill>
            <a:srgbClr val="F7F9FC"/>
          </a:solidFill>
          <a:ln>
            <a:solidFill>
              <a:srgbClr val="5E6C84">
                <a:alpha val="6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E6C84"/>
                </a:solidFill>
              </a:rPr>
              <a:t>NOT_OBSERVABLE</a:t>
            </a:r>
            <a:endParaRPr lang="en-US" sz="1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7324D"/>
                </a:solidFill>
                <a:latin typeface="Aptos Display"/>
              </a:rPr>
              <a:t>The ML score is not the final decision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1600200" cy="566928"/>
          </a:xfrm>
          <a:prstGeom prst="roundRect">
            <a:avLst>
              <a:gd name="adj" fmla="val 12903"/>
            </a:avLst>
          </a:prstGeom>
          <a:solidFill>
            <a:srgbClr val="6B4EFF"/>
          </a:solidFill>
          <a:ln w="15240">
            <a:solidFill>
              <a:srgbClr val="6B4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58952" y="1627632"/>
            <a:ext cx="145389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ML OUTPUT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5480" y="2653792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1EEFF"/>
          </a:solidFill>
          <a:ln w="15240">
            <a:solidFill>
              <a:srgbClr val="D7D0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8632" y="2726944"/>
            <a:ext cx="1819656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172B4D"/>
                </a:solidFill>
              </a:rPr>
              <a:t>Risk score</a:t>
            </a:r>
            <a:endParaRPr lang="en-US" sz="1200" dirty="0"/>
          </a:p>
          <a:p>
            <a:r>
              <a:rPr sz="1200" b="1">
                <a:solidFill>
                  <a:srgbClr val="172B4D"/>
                </a:solidFill>
              </a:rPr>
              <a:t>model confidence</a:t>
            </a:r>
          </a:p>
          <a:p>
            <a:r>
              <a:rPr sz="1200" b="1">
                <a:solidFill>
                  <a:srgbClr val="172B4D"/>
                </a:solidFill>
              </a:rPr>
              <a:t>ONE INPUT</a:t>
            </a:r>
          </a:p>
        </p:txBody>
      </p:sp>
      <p:sp>
        <p:nvSpPr>
          <p:cNvPr id="8" name="Shape 6"/>
          <p:cNvSpPr/>
          <p:nvPr/>
        </p:nvSpPr>
        <p:spPr>
          <a:xfrm>
            <a:off x="2741168" y="3129280"/>
            <a:ext cx="379984" cy="0"/>
          </a:xfrm>
          <a:prstGeom prst="line">
            <a:avLst/>
          </a:prstGeom>
          <a:noFill/>
          <a:ln w="25400">
            <a:solidFill>
              <a:srgbClr val="6B4E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73552" y="1554480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246BCE"/>
          </a:solidFill>
          <a:ln w="15240">
            <a:solidFill>
              <a:srgbClr val="246B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346704" y="1627632"/>
            <a:ext cx="22311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EVIDENCE + RULES + CONTEXT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53232" y="2653792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EAF2FF"/>
          </a:solidFill>
          <a:ln w="15240">
            <a:solidFill>
              <a:srgbClr val="C9DC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26384" y="2726944"/>
            <a:ext cx="2596896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172B4D"/>
                </a:solidFill>
              </a:rPr>
              <a:t>Service identity</a:t>
            </a:r>
            <a:endParaRPr lang="en-US" sz="1200"/>
          </a:p>
          <a:p>
            <a:r>
              <a:rPr sz="1200" b="1">
                <a:solidFill>
                  <a:srgbClr val="172B4D"/>
                </a:solidFill>
              </a:rPr>
              <a:t>Declared-vs-observed</a:t>
            </a:r>
          </a:p>
          <a:p>
            <a:r>
              <a:rPr sz="1200" b="1">
                <a:solidFill>
                  <a:srgbClr val="172B4D"/>
                </a:solidFill>
              </a:rPr>
              <a:t>Supporting evidence</a:t>
            </a:r>
          </a:p>
          <a:p>
            <a:r>
              <a:rPr sz="1200" b="1">
                <a:solidFill>
                  <a:srgbClr val="172B4D"/>
                </a:solidFill>
              </a:rPr>
              <a:t>Destination / behavior context</a:t>
            </a:r>
          </a:p>
        </p:txBody>
      </p:sp>
      <p:sp>
        <p:nvSpPr>
          <p:cNvPr id="13" name="Shape 11"/>
          <p:cNvSpPr/>
          <p:nvPr/>
        </p:nvSpPr>
        <p:spPr>
          <a:xfrm>
            <a:off x="6106160" y="3129280"/>
            <a:ext cx="382016" cy="0"/>
          </a:xfrm>
          <a:prstGeom prst="line">
            <a:avLst/>
          </a:prstGeom>
          <a:noFill/>
          <a:ln w="25400">
            <a:solidFill>
              <a:srgbClr val="246B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620256" y="155448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129A8A"/>
          </a:solidFill>
          <a:ln w="15240">
            <a:solidFill>
              <a:srgbClr val="129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693408" y="1627632"/>
            <a:ext cx="181965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THREAT ASSESSMENT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27368" y="2653792"/>
            <a:ext cx="2286000" cy="1298448"/>
          </a:xfrm>
          <a:prstGeom prst="roundRect">
            <a:avLst>
              <a:gd name="adj" fmla="val 5634"/>
            </a:avLst>
          </a:prstGeom>
          <a:solidFill>
            <a:srgbClr val="EAF7F0"/>
          </a:solidFill>
          <a:ln w="15240">
            <a:solidFill>
              <a:srgbClr val="C9E3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700520" y="2726944"/>
            <a:ext cx="2139696" cy="1152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172B4D"/>
                </a:solidFill>
              </a:rPr>
              <a:t>Benign</a:t>
            </a:r>
            <a:endParaRPr lang="en-US" sz="1200"/>
          </a:p>
          <a:p>
            <a:r>
              <a:rPr sz="1200" b="1">
                <a:solidFill>
                  <a:srgbClr val="172B4D"/>
                </a:solidFill>
              </a:rPr>
              <a:t>Suspicious</a:t>
            </a:r>
          </a:p>
          <a:p>
            <a:r>
              <a:rPr sz="1200" b="1">
                <a:solidFill>
                  <a:srgbClr val="172B4D"/>
                </a:solidFill>
              </a:rPr>
              <a:t>Malicious</a:t>
            </a:r>
          </a:p>
          <a:p>
            <a:r>
              <a:rPr sz="1200" b="1">
                <a:solidFill>
                  <a:srgbClr val="172B4D"/>
                </a:solidFill>
              </a:rPr>
              <a:t>Insufficient evidence</a:t>
            </a:r>
          </a:p>
        </p:txBody>
      </p:sp>
      <p:sp>
        <p:nvSpPr>
          <p:cNvPr id="18" name="Shape 16"/>
          <p:cNvSpPr/>
          <p:nvPr/>
        </p:nvSpPr>
        <p:spPr>
          <a:xfrm>
            <a:off x="9004808" y="3129280"/>
            <a:ext cx="364744" cy="0"/>
          </a:xfrm>
          <a:prstGeom prst="line">
            <a:avLst/>
          </a:prstGeom>
          <a:noFill/>
          <a:ln w="25400">
            <a:solidFill>
              <a:srgbClr val="129A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9491472" y="1554480"/>
            <a:ext cx="1508760" cy="566928"/>
          </a:xfrm>
          <a:prstGeom prst="roundRect">
            <a:avLst>
              <a:gd name="adj" fmla="val 12903"/>
            </a:avLst>
          </a:prstGeom>
          <a:solidFill>
            <a:srgbClr val="17324D"/>
          </a:solidFill>
          <a:ln w="1524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564624" y="1627632"/>
            <a:ext cx="136245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POLICY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489440" y="2653792"/>
            <a:ext cx="1874520" cy="1298448"/>
          </a:xfrm>
          <a:prstGeom prst="roundRect">
            <a:avLst>
              <a:gd name="adj" fmla="val 5634"/>
            </a:avLst>
          </a:prstGeom>
          <a:solidFill>
            <a:srgbClr val="FFF4E5"/>
          </a:solidFill>
          <a:ln w="15240">
            <a:solidFill>
              <a:srgbClr val="EAD4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562592" y="2726944"/>
            <a:ext cx="1728216" cy="1152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B4D"/>
                </a:solidFill>
              </a:rPr>
              <a:t>ALLOW</a:t>
            </a:r>
            <a:endParaRPr lang="en-US" sz="120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B4D"/>
                </a:solidFill>
              </a:rPr>
              <a:t>WARN</a:t>
            </a:r>
            <a:endParaRPr lang="en-US" sz="120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B4D"/>
                </a:solidFill>
              </a:rPr>
              <a:t>CONFIRM</a:t>
            </a:r>
            <a:endParaRPr lang="en-US" sz="120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B4D"/>
                </a:solidFill>
              </a:rPr>
              <a:t>BLOCK / CONTAIN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500334" y="490220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7324D"/>
                </a:solidFill>
              </a:rPr>
              <a:t>Enforcement outcome</a:t>
            </a:r>
            <a:endParaRPr lang="en-US" sz="1500" dirty="0"/>
          </a:p>
          <a:p>
            <a:r>
              <a:rPr sz="1500" b="1">
                <a:solidFill>
                  <a:srgbClr val="17324D"/>
                </a:solidFill>
              </a:rPr>
              <a:t>(only claimed after browser verification)</a:t>
            </a:r>
          </a:p>
        </p:txBody>
      </p:sp>
      <p:sp>
        <p:nvSpPr>
          <p:cNvPr id="24" name="Text 22"/>
          <p:cNvSpPr/>
          <p:nvPr/>
        </p:nvSpPr>
        <p:spPr>
          <a:xfrm>
            <a:off x="2703484" y="4858512"/>
            <a:ext cx="1427480" cy="345440"/>
          </a:xfrm>
          <a:prstGeom prst="rect">
            <a:avLst/>
          </a:prstGeom>
          <a:solidFill>
            <a:srgbClr val="EAF7F0"/>
          </a:solidFill>
          <a:ln>
            <a:solidFill>
              <a:srgbClr val="2E8B57">
                <a:alpha val="6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B57"/>
                </a:solidFill>
              </a:rPr>
              <a:t>ALLOWED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4354484" y="4858512"/>
            <a:ext cx="1427480" cy="345440"/>
          </a:xfrm>
          <a:prstGeom prst="rect">
            <a:avLst/>
          </a:prstGeom>
          <a:solidFill>
            <a:srgbClr val="FFF4E5"/>
          </a:solidFill>
          <a:ln>
            <a:solidFill>
              <a:srgbClr val="D97706">
                <a:alpha val="6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</a:rPr>
              <a:t>WARNED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6015644" y="4858512"/>
            <a:ext cx="2341880" cy="345440"/>
          </a:xfrm>
          <a:prstGeom prst="rect">
            <a:avLst/>
          </a:prstGeom>
          <a:solidFill>
            <a:srgbClr val="FDEDEC"/>
          </a:solidFill>
          <a:ln>
            <a:solidFill>
              <a:srgbClr val="C0392B">
                <a:alpha val="6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</a:rPr>
              <a:t>BLOCKED_BEFORE_LOAD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8581044" y="4858512"/>
            <a:ext cx="2341880" cy="345440"/>
          </a:xfrm>
          <a:prstGeom prst="rect">
            <a:avLst/>
          </a:prstGeom>
          <a:solidFill>
            <a:srgbClr val="FDEDEC"/>
          </a:solidFill>
          <a:ln>
            <a:solidFill>
              <a:srgbClr val="C0392B">
                <a:alpha val="6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</a:rPr>
              <a:t>CONTAINED_AFTER_LOAD</a:t>
            </a:r>
            <a:endParaRPr lang="en-US"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2335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7324D"/>
                </a:solidFill>
                <a:latin typeface="Aptos Display"/>
              </a:rPr>
              <a:t>Privacy is part of the architecture, not an afterthought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0720" y="171535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00"/>
              <a:t>Core rule: observe the request and behavior without collecting the user’s secret values.</a:t>
            </a:r>
          </a:p>
        </p:txBody>
      </p:sp>
      <p:sp>
        <p:nvSpPr>
          <p:cNvPr id="4" name="Shape 2"/>
          <p:cNvSpPr/>
          <p:nvPr/>
        </p:nvSpPr>
        <p:spPr>
          <a:xfrm>
            <a:off x="731520" y="2541998"/>
            <a:ext cx="3383280" cy="2668084"/>
          </a:xfrm>
          <a:prstGeom prst="roundRect">
            <a:avLst>
              <a:gd name="adj" fmla="val 2192"/>
            </a:avLst>
          </a:prstGeom>
          <a:solidFill>
            <a:srgbClr val="EAF2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2541998"/>
            <a:ext cx="54864" cy="2668084"/>
          </a:xfrm>
          <a:prstGeom prst="rect">
            <a:avLst/>
          </a:prstGeom>
          <a:solidFill>
            <a:srgbClr val="246BCE"/>
          </a:solidFill>
          <a:ln w="12700">
            <a:solidFill>
              <a:srgbClr val="246B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12800" y="2688302"/>
            <a:ext cx="402336" cy="204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6BCE"/>
                </a:solidFill>
              </a:rPr>
              <a:t>+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19200" y="2708622"/>
            <a:ext cx="2286000" cy="25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</a:rPr>
              <a:t>We DO collect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1115568" y="3155662"/>
            <a:ext cx="2816352" cy="144350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/>
              <a:t>• Structural metadata</a:t>
            </a:r>
            <a:endParaRPr lang="en-US" sz="1200"/>
          </a:p>
          <a:p>
            <a:pPr marL="0" indent="0">
              <a:buNone/>
            </a:pPr>
            <a:r>
              <a:rPr lang="en-US" sz="1200" dirty="0"/>
              <a:t>• Data categories (e.g., “password field”)</a:t>
            </a:r>
            <a:endParaRPr lang="en-US" sz="1200"/>
          </a:p>
          <a:p>
            <a:pPr marL="0" indent="0">
              <a:buNone/>
            </a:pPr>
            <a:r>
              <a:rPr lang="en-US" sz="1200" dirty="0"/>
              <a:t>• Domain / destination metadata</a:t>
            </a:r>
            <a:endParaRPr lang="en-US" sz="1200"/>
          </a:p>
          <a:p>
            <a:pPr marL="0" indent="0">
              <a:buNone/>
            </a:pPr>
            <a:r>
              <a:rPr lang="en-US" sz="1200" dirty="0"/>
              <a:t>• Redirect / form behavior</a:t>
            </a:r>
            <a:endParaRPr lang="en-US" sz="1200"/>
          </a:p>
          <a:p>
            <a:pPr marL="0" indent="0">
              <a:buNone/>
            </a:pPr>
            <a:r>
              <a:rPr lang="en-US" sz="1200" dirty="0"/>
              <a:t>• Evidence IDs + timestamps</a:t>
            </a:r>
            <a:endParaRPr lang="en-US" sz="1200"/>
          </a:p>
          <a:p>
            <a:pPr marL="0" indent="0">
              <a:buNone/>
            </a:pPr>
            <a:r>
              <a:rPr lang="en-US" sz="1200" dirty="0"/>
              <a:t>• Model / policy results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4537456" y="2541998"/>
            <a:ext cx="3362960" cy="2668084"/>
          </a:xfrm>
          <a:prstGeom prst="roundRect">
            <a:avLst>
              <a:gd name="adj" fmla="val 2192"/>
            </a:avLst>
          </a:prstGeom>
          <a:solidFill>
            <a:srgbClr val="FDEDEC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17136" y="2541998"/>
            <a:ext cx="54864" cy="26680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39056" y="2759422"/>
            <a:ext cx="402336" cy="204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</a:rPr>
              <a:t>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35296" y="2708622"/>
            <a:ext cx="2011680" cy="2880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</a:rPr>
              <a:t>We DO NOT store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33264" y="3155662"/>
            <a:ext cx="2369312" cy="144350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200"/>
              <a:t>• password values</a:t>
            </a:r>
          </a:p>
          <a:p>
            <a:r>
              <a:rPr sz="1200"/>
              <a:t>• OTP values</a:t>
            </a:r>
          </a:p>
          <a:p>
            <a:r>
              <a:rPr sz="1200"/>
              <a:t>• CVV / card secrets</a:t>
            </a:r>
          </a:p>
          <a:p>
            <a:r>
              <a:rPr sz="1200"/>
              <a:t>• authentication tokens</a:t>
            </a:r>
          </a:p>
          <a:p>
            <a:r>
              <a:rPr sz="1200"/>
              <a:t>• raw form values</a:t>
            </a:r>
          </a:p>
          <a:p>
            <a:r>
              <a:rPr sz="1200"/>
              <a:t>• request bodies / auth headers</a:t>
            </a:r>
          </a:p>
          <a:p>
            <a:r>
              <a:rPr sz="1200"/>
              <a:t>• private page text</a:t>
            </a:r>
          </a:p>
        </p:txBody>
      </p:sp>
      <p:sp>
        <p:nvSpPr>
          <p:cNvPr id="14" name="Shape 12"/>
          <p:cNvSpPr/>
          <p:nvPr/>
        </p:nvSpPr>
        <p:spPr>
          <a:xfrm>
            <a:off x="8302752" y="2541998"/>
            <a:ext cx="3383280" cy="2668084"/>
          </a:xfrm>
          <a:prstGeom prst="roundRect">
            <a:avLst>
              <a:gd name="adj" fmla="val 2192"/>
            </a:avLst>
          </a:prstGeom>
          <a:solidFill>
            <a:srgbClr val="EAF7F0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302752" y="2541998"/>
            <a:ext cx="54864" cy="2668084"/>
          </a:xfrm>
          <a:prstGeom prst="rect">
            <a:avLst/>
          </a:prstGeom>
          <a:solidFill>
            <a:srgbClr val="129A8A"/>
          </a:solidFill>
          <a:ln w="12700">
            <a:solidFill>
              <a:srgbClr val="129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312912" y="2789902"/>
            <a:ext cx="402336" cy="204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9A8A"/>
                </a:solidFill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719312" y="2718782"/>
            <a:ext cx="2672080" cy="2372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</a:rPr>
              <a:t>Why this helps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17280" y="3155662"/>
            <a:ext cx="2572512" cy="144350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200"/>
              <a:t>• smaller privacy footprint</a:t>
            </a:r>
          </a:p>
          <a:p>
            <a:r>
              <a:rPr sz="1200"/>
              <a:t>• lower breach impact</a:t>
            </a:r>
          </a:p>
          <a:p>
            <a:r>
              <a:rPr sz="1200"/>
              <a:t>• local inference</a:t>
            </a:r>
          </a:p>
          <a:p>
            <a:r>
              <a:rPr sz="1200"/>
              <a:t>• explainable evidence</a:t>
            </a:r>
          </a:p>
          <a:p>
            <a:r>
              <a:rPr sz="1200"/>
              <a:t>• easier security/privacy review</a:t>
            </a:r>
          </a:p>
          <a:p>
            <a:r>
              <a:rPr sz="1200"/>
              <a:t>• safer research dataset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7324D"/>
                </a:solidFill>
                <a:latin typeface="Aptos Display"/>
              </a:rPr>
              <a:t>Scope roadmap: web MVP first; other artifacts later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150"/>
              <a:t>The current Capstone scope is browser/web threats. Files, media and applications are future extensions after the web MVP and its evaluation are stable.</a:t>
            </a:r>
            <a:endParaRPr lang="en-US" sz="115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246BCE"/>
          </a:solidFill>
          <a:ln w="15240">
            <a:solidFill>
              <a:srgbClr val="246B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04672" y="1399032"/>
            <a:ext cx="177393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CURRENT CAPSTONE MVP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97480" y="1636776"/>
            <a:ext cx="457200" cy="0"/>
          </a:xfrm>
          <a:prstGeom prst="line">
            <a:avLst/>
          </a:prstGeom>
          <a:noFill/>
          <a:ln w="22860">
            <a:solidFill>
              <a:srgbClr val="246B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154680" y="1325880"/>
            <a:ext cx="7818120" cy="621792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5240">
            <a:solidFill>
              <a:srgbClr val="246B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27832" y="1399032"/>
            <a:ext cx="767181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172B4D"/>
                </a:solidFill>
              </a:rPr>
              <a:t>URL / page / form / navigation / data requests / service behavior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6B4EFF"/>
          </a:solidFill>
          <a:ln w="15240">
            <a:solidFill>
              <a:srgbClr val="6B4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04672" y="2542032"/>
            <a:ext cx="177393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Future: Documents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97480" y="2779776"/>
            <a:ext cx="457200" cy="0"/>
          </a:xfrm>
          <a:prstGeom prst="line">
            <a:avLst/>
          </a:prstGeom>
          <a:noFill/>
          <a:ln w="22860">
            <a:solidFill>
              <a:srgbClr val="6B4E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154680" y="2468880"/>
            <a:ext cx="7818120" cy="621792"/>
          </a:xfrm>
          <a:prstGeom prst="roundRect">
            <a:avLst>
              <a:gd name="adj" fmla="val 11765"/>
            </a:avLst>
          </a:prstGeom>
          <a:solidFill>
            <a:srgbClr val="F1EEFF"/>
          </a:solidFill>
          <a:ln w="15240">
            <a:solidFill>
              <a:srgbClr val="6B4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27832" y="2542032"/>
            <a:ext cx="767181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B4D"/>
                </a:solidFill>
              </a:rPr>
              <a:t>PDF / Office / downloaded files / embedded links / scripts / macros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611880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0EA5C8"/>
          </a:solidFill>
          <a:ln w="15240">
            <a:solidFill>
              <a:srgbClr val="0EA5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04672" y="3685032"/>
            <a:ext cx="177393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Future: Media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97480" y="3922776"/>
            <a:ext cx="457200" cy="0"/>
          </a:xfrm>
          <a:prstGeom prst="line">
            <a:avLst/>
          </a:prstGeom>
          <a:noFill/>
          <a:ln w="22860">
            <a:solidFill>
              <a:srgbClr val="0EA5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154680" y="3611880"/>
            <a:ext cx="7818120" cy="621792"/>
          </a:xfrm>
          <a:prstGeom prst="roundRect">
            <a:avLst>
              <a:gd name="adj" fmla="val 11765"/>
            </a:avLst>
          </a:prstGeom>
          <a:solidFill>
            <a:srgbClr val="E9F8FC"/>
          </a:solidFill>
          <a:ln w="15240">
            <a:solidFill>
              <a:srgbClr val="0EA5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227832" y="3685032"/>
            <a:ext cx="767181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B4D"/>
                </a:solidFill>
              </a:rPr>
              <a:t>Image / audio / video metadata, links, QR codes, suspicious payloads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4754880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C0392B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04672" y="4828032"/>
            <a:ext cx="177393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Future: Applications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97480" y="5065776"/>
            <a:ext cx="457200" cy="0"/>
          </a:xfrm>
          <a:prstGeom prst="line">
            <a:avLst/>
          </a:prstGeom>
          <a:noFill/>
          <a:ln w="22860">
            <a:solidFill>
              <a:srgbClr val="C0392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154680" y="4754880"/>
            <a:ext cx="7818120" cy="621792"/>
          </a:xfrm>
          <a:prstGeom prst="roundRect">
            <a:avLst>
              <a:gd name="adj" fmla="val 11765"/>
            </a:avLst>
          </a:prstGeom>
          <a:solidFill>
            <a:srgbClr val="FDEDEC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27832" y="4828032"/>
            <a:ext cx="767181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B4D"/>
                </a:solidFill>
              </a:rPr>
              <a:t>Downloads / installers / permissions / process behavior / sandbox analysis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49808" y="57424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7324D"/>
                </a:solidFill>
              </a:rPr>
              <a:t>FUTURE PRINCIPLE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331720" y="5687568"/>
            <a:ext cx="9052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sz="1450">
                <a:solidFill>
                  <a:srgbClr val="172B4D"/>
                </a:solidFill>
              </a:rPr>
              <a:t>Inspect what an artifact contains, where it leads, what it requests, and whether the action is expected — but do not expand the current MVP until web detection is validated.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" y="88696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7324D"/>
                </a:solidFill>
                <a:latin typeface="Aptos Display"/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00024" y="1870179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9224" y="1880339"/>
            <a:ext cx="54864" cy="1508760"/>
          </a:xfrm>
          <a:prstGeom prst="rect">
            <a:avLst/>
          </a:prstGeom>
          <a:solidFill>
            <a:srgbClr val="246BCE"/>
          </a:solidFill>
          <a:ln w="12700">
            <a:solidFill>
              <a:srgbClr val="246B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32104" y="2026643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6BCE"/>
                </a:solidFill>
              </a:rPr>
              <a:t>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9304" y="2026643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</a:rPr>
              <a:t>Browser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77112" y="2372083"/>
            <a:ext cx="25318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200"/>
              <a:t>Chromium / Chrome</a:t>
            </a:r>
            <a:endParaRPr lang="en-US" sz="1200"/>
          </a:p>
          <a:p>
            <a:r>
              <a:rPr sz="1200"/>
              <a:t>Manifest V3</a:t>
            </a:r>
          </a:p>
        </p:txBody>
      </p:sp>
      <p:sp>
        <p:nvSpPr>
          <p:cNvPr id="9" name="Shape 7"/>
          <p:cNvSpPr/>
          <p:nvPr/>
        </p:nvSpPr>
        <p:spPr>
          <a:xfrm>
            <a:off x="4471416" y="1880339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471416" y="1880339"/>
            <a:ext cx="54864" cy="1508760"/>
          </a:xfrm>
          <a:prstGeom prst="rect">
            <a:avLst/>
          </a:prstGeom>
          <a:solidFill>
            <a:srgbClr val="0EA5C8"/>
          </a:solidFill>
          <a:ln w="12700">
            <a:solidFill>
              <a:srgbClr val="0EA5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54296" y="2026643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A5C8"/>
                </a:solidFill>
              </a:rPr>
              <a:t>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11496" y="2026643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</a:rPr>
              <a:t>Security Core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99304" y="2372083"/>
            <a:ext cx="25318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200"/>
              <a:t>TypeScript</a:t>
            </a:r>
            <a:endParaRPr lang="en-US" sz="1200"/>
          </a:p>
          <a:p>
            <a:r>
              <a:rPr sz="1200"/>
              <a:t>Evidence + Rules + Policy</a:t>
            </a:r>
          </a:p>
          <a:p>
            <a:r>
              <a:rPr sz="1200"/>
              <a:t>Browser extension core</a:t>
            </a:r>
          </a:p>
        </p:txBody>
      </p:sp>
      <p:sp>
        <p:nvSpPr>
          <p:cNvPr id="14" name="Shape 12"/>
          <p:cNvSpPr/>
          <p:nvPr/>
        </p:nvSpPr>
        <p:spPr>
          <a:xfrm>
            <a:off x="8293608" y="1880339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93608" y="1880339"/>
            <a:ext cx="54864" cy="1508760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476488" y="2026643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4EFF"/>
                </a:solidFill>
              </a:rPr>
              <a:t>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33688" y="2026643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</a:rPr>
              <a:t>ML Training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21496" y="2372083"/>
            <a:ext cx="25318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200"/>
              <a:t>Python</a:t>
            </a:r>
            <a:endParaRPr lang="en-US" sz="1200"/>
          </a:p>
          <a:p>
            <a:r>
              <a:rPr sz="1200"/>
              <a:t>pandas • scikit-learn</a:t>
            </a:r>
          </a:p>
          <a:p>
            <a:r>
              <a:rPr sz="1200"/>
              <a:t>Gradient-boosting candidates</a:t>
            </a:r>
          </a:p>
        </p:txBody>
      </p:sp>
      <p:sp>
        <p:nvSpPr>
          <p:cNvPr id="19" name="Shape 17"/>
          <p:cNvSpPr/>
          <p:nvPr/>
        </p:nvSpPr>
        <p:spPr>
          <a:xfrm>
            <a:off x="649224" y="3800579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9224" y="3800579"/>
            <a:ext cx="54864" cy="1508760"/>
          </a:xfrm>
          <a:prstGeom prst="rect">
            <a:avLst/>
          </a:prstGeom>
          <a:solidFill>
            <a:srgbClr val="129A8A"/>
          </a:solidFill>
          <a:ln w="12700">
            <a:solidFill>
              <a:srgbClr val="129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32104" y="3946883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9A8A"/>
                </a:solidFill>
              </a:rPr>
              <a:t>•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9304" y="3946883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</a:rPr>
              <a:t>ML Runtime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77112" y="4292323"/>
            <a:ext cx="25318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200"/>
              <a:t>ONNX Runtime Web</a:t>
            </a:r>
            <a:endParaRPr lang="en-US" sz="1200"/>
          </a:p>
          <a:p>
            <a:r>
              <a:rPr sz="1200"/>
              <a:t>Service Worker / Offscreen</a:t>
            </a:r>
          </a:p>
          <a:p>
            <a:r>
              <a:rPr sz="1200"/>
              <a:t>Local inference</a:t>
            </a:r>
          </a:p>
        </p:txBody>
      </p:sp>
      <p:sp>
        <p:nvSpPr>
          <p:cNvPr id="24" name="Shape 22"/>
          <p:cNvSpPr/>
          <p:nvPr/>
        </p:nvSpPr>
        <p:spPr>
          <a:xfrm>
            <a:off x="4522216" y="3790419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471416" y="3800579"/>
            <a:ext cx="54864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654296" y="3946883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</a:rPr>
              <a:t>•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11496" y="3946883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</a:rPr>
              <a:t>Testing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99304" y="4292323"/>
            <a:ext cx="25318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200"/>
              <a:t>Vitest • Pytest • Playwright</a:t>
            </a:r>
            <a:endParaRPr lang="en-US" sz="1200"/>
          </a:p>
          <a:p>
            <a:r>
              <a:rPr sz="1200"/>
              <a:t>Unit / integration / E2E</a:t>
            </a:r>
          </a:p>
        </p:txBody>
      </p:sp>
      <p:sp>
        <p:nvSpPr>
          <p:cNvPr id="29" name="Shape 27"/>
          <p:cNvSpPr/>
          <p:nvPr/>
        </p:nvSpPr>
        <p:spPr>
          <a:xfrm>
            <a:off x="8293608" y="3800579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293608" y="3800579"/>
            <a:ext cx="54864" cy="1508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476488" y="3946883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</a:rPr>
              <a:t>•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933688" y="3946883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</a:rPr>
              <a:t>Data / Research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921496" y="4292323"/>
            <a:ext cx="25318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200"/>
              <a:t>JSONL • Parquet</a:t>
            </a:r>
            <a:endParaRPr lang="en-US" sz="1200"/>
          </a:p>
          <a:p>
            <a:r>
              <a:rPr sz="1200"/>
              <a:t>FastAPI • PostgreSQL</a:t>
            </a:r>
          </a:p>
          <a:p>
            <a:r>
              <a:rPr sz="1200"/>
              <a:t>Sanitized observations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752" y="39420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7324D"/>
                </a:solidFill>
                <a:latin typeface="Aptos Display"/>
              </a:rPr>
              <a:t>How will we prove it works?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0720" y="10444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150"/>
              <a:t>The project is evaluated as software, security engineering and research — with no unsupported performance claims.</a:t>
            </a:r>
            <a:endParaRPr lang="en-US" sz="1150"/>
          </a:p>
        </p:txBody>
      </p:sp>
      <p:sp>
        <p:nvSpPr>
          <p:cNvPr id="4" name="Shape 2"/>
          <p:cNvSpPr/>
          <p:nvPr/>
        </p:nvSpPr>
        <p:spPr>
          <a:xfrm>
            <a:off x="678688" y="1724152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246BCE"/>
          </a:solidFill>
          <a:ln w="15240">
            <a:solidFill>
              <a:srgbClr val="246B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51840" y="1797304"/>
            <a:ext cx="172821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Engineering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809240" y="1724152"/>
            <a:ext cx="81838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24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882392" y="1797304"/>
            <a:ext cx="803757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172B4D"/>
                </a:solidFill>
              </a:rPr>
              <a:t>Build • Typecheck • Unit • Integration tests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78688" y="2428240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0EA5C8"/>
          </a:solidFill>
          <a:ln w="15240">
            <a:solidFill>
              <a:srgbClr val="0EA5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51840" y="2501392"/>
            <a:ext cx="172821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Browser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09240" y="2428240"/>
            <a:ext cx="81838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24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882392" y="2501392"/>
            <a:ext cx="803757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172B4D"/>
                </a:solidFill>
              </a:rPr>
              <a:t>Real Chromium E2E • navigation • containment verification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78688" y="3132328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129A8A"/>
          </a:solidFill>
          <a:ln w="15240">
            <a:solidFill>
              <a:srgbClr val="129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51840" y="3205480"/>
            <a:ext cx="172821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Privacy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809240" y="3132328"/>
            <a:ext cx="81838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24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882392" y="3205480"/>
            <a:ext cx="803757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172B4D"/>
                </a:solidFill>
              </a:rPr>
              <a:t>Secret-access trap • storage/message/log audit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8688" y="3836416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6B4EFF"/>
          </a:solidFill>
          <a:ln w="15240">
            <a:solidFill>
              <a:srgbClr val="6B4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51840" y="3909568"/>
            <a:ext cx="172821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ML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809240" y="3836416"/>
            <a:ext cx="81838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24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882392" y="3909568"/>
            <a:ext cx="803757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172B4D"/>
                </a:solidFill>
              </a:rPr>
              <a:t>Precision • Recall • F1 • ROC-AUC • PR-AUC</a:t>
            </a:r>
            <a:endParaRPr lang="en-US" sz="1150" dirty="0"/>
          </a:p>
          <a:p>
            <a:r>
              <a:rPr sz="1150" b="1">
                <a:solidFill>
                  <a:srgbClr val="172B4D"/>
                </a:solidFill>
              </a:rPr>
              <a:t>FPR • FNR</a:t>
            </a:r>
          </a:p>
        </p:txBody>
      </p:sp>
      <p:sp>
        <p:nvSpPr>
          <p:cNvPr id="20" name="Shape 18"/>
          <p:cNvSpPr/>
          <p:nvPr/>
        </p:nvSpPr>
        <p:spPr>
          <a:xfrm>
            <a:off x="678688" y="4540504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51840" y="4613656"/>
            <a:ext cx="172821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Generalization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809240" y="4540504"/>
            <a:ext cx="81838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24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882392" y="4613656"/>
            <a:ext cx="803757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172B4D"/>
                </a:solidFill>
              </a:rPr>
              <a:t>Temporal • unseen-domain • cross-domain</a:t>
            </a:r>
            <a:endParaRPr lang="en-US" sz="1150" dirty="0"/>
          </a:p>
          <a:p>
            <a:r>
              <a:rPr sz="1150" b="1">
                <a:solidFill>
                  <a:srgbClr val="172B4D"/>
                </a:solidFill>
              </a:rPr>
              <a:t>Adversarial evaluation</a:t>
            </a:r>
          </a:p>
        </p:txBody>
      </p:sp>
      <p:sp>
        <p:nvSpPr>
          <p:cNvPr id="24" name="Shape 22"/>
          <p:cNvSpPr/>
          <p:nvPr/>
        </p:nvSpPr>
        <p:spPr>
          <a:xfrm>
            <a:off x="678688" y="5244592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C0392B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51840" y="5317744"/>
            <a:ext cx="172821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Performance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809240" y="5244592"/>
            <a:ext cx="81838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24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882392" y="5317744"/>
            <a:ext cx="803757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172B4D"/>
                </a:solidFill>
              </a:rPr>
              <a:t>P50/P95 startup &amp; decision latency</a:t>
            </a:r>
            <a:endParaRPr lang="en-US" sz="1150" dirty="0"/>
          </a:p>
          <a:p>
            <a:r>
              <a:rPr sz="1150" b="1">
                <a:solidFill>
                  <a:srgbClr val="172B4D"/>
                </a:solidFill>
              </a:rPr>
              <a:t>CPU • memory • network calls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2928" y="5879592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05050"/>
                </a:solidFill>
                <a:latin typeface="Aptos"/>
              </a:rPr>
              <a:t>Current prototype: 20 samples / 98 features. Strong generalization and significance claims require larger, leakage-safe evaluation.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75158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7324D"/>
                </a:solidFill>
                <a:latin typeface="Aptos Display"/>
              </a:rPr>
              <a:t>What CAPSTONE-1 is designed to deliver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04088" y="138074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00"/>
              <a:t>A privacy-preserving browser security system that assesses risky web interactions before harmful actions succeed — without becoming a collector of user secrets.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476504" y="1876481"/>
            <a:ext cx="2616200" cy="1476039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76504" y="1876481"/>
            <a:ext cx="65024" cy="1476039"/>
          </a:xfrm>
          <a:prstGeom prst="rect">
            <a:avLst/>
          </a:prstGeom>
          <a:solidFill>
            <a:srgbClr val="246BCE"/>
          </a:solidFill>
          <a:ln w="12700">
            <a:solidFill>
              <a:srgbClr val="246B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32104" y="2012625"/>
            <a:ext cx="402336" cy="275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6BCE"/>
                </a:solidFill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9304" y="2012625"/>
            <a:ext cx="1691640" cy="1968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</a:rPr>
              <a:t>Detect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12952" y="2378385"/>
            <a:ext cx="1978152" cy="7251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200"/>
              <a:t>Assess phishing, impersonation and suspicious data-collection behavior from correlated evidence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3292856" y="1876481"/>
            <a:ext cx="2616200" cy="1476039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92856" y="1876481"/>
            <a:ext cx="54864" cy="1476039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48456" y="2012625"/>
            <a:ext cx="402336" cy="275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4EFF"/>
                </a:solidFill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05656" y="2012625"/>
            <a:ext cx="1691640" cy="1968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</a:rPr>
              <a:t>Explain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29304" y="2378385"/>
            <a:ext cx="1978152" cy="7251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200"/>
              <a:t>Show evidence, uncertainty and reason codes behind the assessment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6109208" y="1876481"/>
            <a:ext cx="2616200" cy="1476039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109208" y="1876481"/>
            <a:ext cx="54864" cy="147603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64808" y="2012625"/>
            <a:ext cx="402336" cy="275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22008" y="2012625"/>
            <a:ext cx="1691640" cy="1968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</a:rPr>
              <a:t>Prevent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45656" y="2378385"/>
            <a:ext cx="1978152" cy="7251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200"/>
              <a:t>Map the assessment to allow, warn, confirm, block or contain — after enforcement is verified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8925560" y="1876481"/>
            <a:ext cx="2616200" cy="1476039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925560" y="1876481"/>
            <a:ext cx="65024" cy="1476039"/>
          </a:xfrm>
          <a:prstGeom prst="rect">
            <a:avLst/>
          </a:prstGeom>
          <a:solidFill>
            <a:srgbClr val="129A8A"/>
          </a:solidFill>
          <a:ln w="12700">
            <a:solidFill>
              <a:srgbClr val="129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281160" y="2012625"/>
            <a:ext cx="402336" cy="275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9A8A"/>
                </a:solidFill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738360" y="2012625"/>
            <a:ext cx="1691640" cy="1968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</a:rPr>
              <a:t>Protect privacy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62008" y="2378385"/>
            <a:ext cx="1978152" cy="7251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200"/>
              <a:t>Observe data categories and behavior; prohibit secret values, raw form data and sensitive payloads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649224" y="40264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Final principle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240280" y="4026408"/>
            <a:ext cx="9098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17324D"/>
                </a:solidFill>
              </a:rPr>
              <a:t>Do not judge a service by appearance alone. Observe it, compare it with what it claims to do, correlate the evidence, preserve uncertainty, and take the safest justified action.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38912" y="5266944"/>
            <a:ext cx="1872256" cy="391160"/>
          </a:xfrm>
          <a:prstGeom prst="rect">
            <a:avLst/>
          </a:prstGeom>
          <a:solidFill>
            <a:srgbClr val="EAF2FF"/>
          </a:solidFill>
          <a:ln>
            <a:solidFill>
              <a:srgbClr val="246BCE">
                <a:alpha val="6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246BCE"/>
                </a:solidFill>
              </a:rPr>
              <a:t>OBSERVE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2497328" y="5266944"/>
            <a:ext cx="1872256" cy="391160"/>
          </a:xfrm>
          <a:prstGeom prst="rect">
            <a:avLst/>
          </a:prstGeom>
          <a:solidFill>
            <a:srgbClr val="E9F8FC"/>
          </a:solidFill>
          <a:ln>
            <a:solidFill>
              <a:srgbClr val="0EA5C8">
                <a:alpha val="6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0EA5C8"/>
                </a:solidFill>
              </a:rPr>
              <a:t>VERIFY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4545584" y="5266944"/>
            <a:ext cx="1872256" cy="391160"/>
          </a:xfrm>
          <a:prstGeom prst="rect">
            <a:avLst/>
          </a:prstGeom>
          <a:solidFill>
            <a:srgbClr val="F1EEFF"/>
          </a:solidFill>
          <a:ln>
            <a:solidFill>
              <a:srgbClr val="6B4EFF">
                <a:alpha val="6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6B4EFF"/>
                </a:solidFill>
              </a:rPr>
              <a:t>EXPLAIN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6807200" y="5266944"/>
            <a:ext cx="1872256" cy="391160"/>
          </a:xfrm>
          <a:prstGeom prst="rect">
            <a:avLst/>
          </a:prstGeom>
          <a:solidFill>
            <a:srgbClr val="FDEDEC"/>
          </a:solidFill>
          <a:ln>
            <a:solidFill>
              <a:srgbClr val="C0392B">
                <a:alpha val="6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C0392B"/>
                </a:solidFill>
              </a:rPr>
              <a:t>PREVENT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9038336" y="5266944"/>
            <a:ext cx="2565308" cy="391160"/>
          </a:xfrm>
          <a:prstGeom prst="rect">
            <a:avLst/>
          </a:prstGeom>
          <a:solidFill>
            <a:srgbClr val="EAF7F0"/>
          </a:solidFill>
          <a:ln>
            <a:solidFill>
              <a:srgbClr val="129A8A">
                <a:alpha val="6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129A8A"/>
                </a:solidFill>
              </a:rPr>
              <a:t>PRESERVE PRIVACY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1771</Words>
  <Application>Microsoft Office PowerPoint</Application>
  <PresentationFormat>Widescreen</PresentationFormat>
  <Paragraphs>487</Paragraphs>
  <Slides>21</Slides>
  <Notes>21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CAPSTONE-1 — Privacy-Preserving Web Threat Detection &amp; Prevention</dc:title>
  <dc:subject>Evidence-driven privacy-preserving web threat detection and prevention</dc:subject>
  <dc:creator>CAPSTONE-1 Team</dc:creator>
  <cp:lastModifiedBy>Anantha Gowtham Gunde</cp:lastModifiedBy>
  <cp:revision>614</cp:revision>
  <dcterms:created xsi:type="dcterms:W3CDTF">2026-08-17T06:07:32Z</dcterms:created>
  <dcterms:modified xsi:type="dcterms:W3CDTF">2026-08-31T06:40:38Z</dcterms:modified>
</cp:coreProperties>
</file>